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268" r:id="rId25"/>
    <p:sldId id="375" r:id="rId12"/>
    <p:sldId id="371" r:id="rId17"/>
    <p:sldId id="376" r:id="rId20"/>
    <p:sldId id="377" r:id="rId15"/>
    <p:sldId id="378" r:id="rId22"/>
    <p:sldId id="370" r:id="rId16"/>
    <p:sldId id="374" r:id="rId18"/>
    <p:sldId id="262" r:id="rId21"/>
    <p:sldId id="260" r:id="rId19"/>
    <p:sldId id="379" r:id="rId23"/>
    <p:sldId id="380" r:id="rId24"/>
    <p:sldId id="366" r:id="rId9"/>
    <p:sldId id="362" r:id="rId10"/>
    <p:sldId id="364" r:id="rId11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3.xml"/><Relationship Id="rId15" Type="http://schemas.openxmlformats.org/officeDocument/2006/relationships/slide" Target="slides/slide6.xml"/><Relationship Id="rId16" Type="http://schemas.openxmlformats.org/officeDocument/2006/relationships/slide" Target="slides/slide8.xml"/><Relationship Id="rId17" Type="http://schemas.openxmlformats.org/officeDocument/2006/relationships/slide" Target="slides/slide4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0" Type="http://schemas.openxmlformats.org/officeDocument/2006/relationships/slide" Target="slides/slide5.xml"/><Relationship Id="rId21" Type="http://schemas.openxmlformats.org/officeDocument/2006/relationships/slide" Target="slides/slide10.xml"/><Relationship Id="rId22" Type="http://schemas.openxmlformats.org/officeDocument/2006/relationships/slide" Target="slides/slide7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2.xml"/><Relationship Id="rId27" Type="http://schemas.openxmlformats.org/officeDocument/2006/relationships/slide" Target="slides/slide1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Ультратех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 9. Учебное программное обеспечение для подготовки оператора ДДС города Москвы с использованием искусственного интеллекта. Постановщик: Департамент ГОЧСиПБ города Москвы, ГБУ «Система 112»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329801"/>
            <a:ext cx="5193299" cy="108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Сотни служб подключены к системе 112.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Карточка уходит в ту, что отвечает за этот адрес.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На приём карточки 30 секунд.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Не успел, и она уходит в отметку «не оповещено».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Тренажёра нет.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Учат на живых вызовах, где ошибка это время приезда помощи.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Веб-приложение в закрытом контуре: интерфейс, сервер, база, телефония Asterisk.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Модели работают на месте, адрес модели задаётся настройкой.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Оценка это набор правил: каждый балл объясняется словами памятки заказчика.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Разворачивается одной командой, переносится на носителе.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Нужен службам, подключённым к 112, и учебным центрам.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Подготовка новичков, переподготовка, аттестация.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Дальше: вход через каталог учётных записей, аттестация с протоколом,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свободный диалог на сервере с видеокартой.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Диспетчер ДДС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Принимает карточку в норматив и ведёт статусы.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Звонит в службы, принимает доклады бригады.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Оператор 112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Принимает звонок и ведёт опрос.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Заполняет карточку, выбирает службы.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Преподаватель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Ведёт занятия, видит группу вживую.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Получает отчёты и прогноз.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Пользователи и состояние сервисов.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Журнал аудита, резервные копии.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УМЕЕТ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КАК В ЖИВОЙ СИСТЕМЕ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11155680" cy="37864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Реестр происшествий и карточка повторяют рабочее место АРМ-112: те же колонки, статусы и расположение блоков. Диспетчер садится и работает, а не изучает новую программу.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МАРКЕТИНГОВАЯ ЧАСТЬ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Пользователи: диспетчеры сотен служб, подключённых к системе 112, и учебные центры.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Ценность: новичок выходит на смену подготовленным, а не учится на живых вызовах.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Заход: пилот на одну группу в одной службе, дальше тиражирование без доработок.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Почему возьмут: интерфейс знакомый, обучение не отрывает действующих диспетчеров.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Перенос в регионы: классификатор и памятка подключаются файлами, код менять не нужно.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БИЗНЕСОВАЯ СОСТАВЛЯЮЩАЯ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Запуск: один сервер из требований ТЗ, без видеокарты и без платных лицензий.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Нет платы за обращения: модели работают внутри контура, подписок и счётчиков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Одна установка тянет 100 пользователей и 20 занятий одновременно, это замерено.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Экономия: группа учится без риска для реальных вызовов и без наставника рядом.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Открытый код: заказчик не привязан к подрядчику и развивает решение сам.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КАК УСТРОЕНО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Браузер: рабочее место АРМ-112 и телефон.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Сервер: занятия, карточки, оценка, отчёты.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Модели внутри контура: диалог, распознавание речи, синтез, грамотность.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Телефония: звонки заявителя, служб и бригады, запись разговоров.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Данные заказчика: классификатор, памятка, 96 учебных билетов.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Заявитель под контролем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Говорит только утверждённые преподавателем реплики.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Точность выбора 95 процентов.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Скорость на процессоре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Ответ текстом 0,9 секунды, голосом 1,7 секунды.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Масштабируется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Адрес модели задаётся настройкой.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Можно вынести на сервер с видеокартой.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t>ИИ БЕЗ ОБЛАКА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Балл раскладывается на составляющие.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Каждая ошибка названа словами памятки заказчика.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Преподаватель может изменить итог, указав причину.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Подсчёт проверен независимо: 12 живых звонков, 408 сверок, расхождений нет.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Решение: принять или отклонить, и обоснование отказа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Время: первичный статус против норматива 30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Цепочка статусов: начало реагирования, прибытие,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Звонки в службы: что передано дежурному и что упущено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Комментарии и грамотность: полнота записей и ошибки в тексте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ОЦЕНКА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Классификатор заказчика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1283 типа происшествий, службы подбираются по признакам карточки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Памятка по работе с АРМ-112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Статусы реагирования и виды нарушений, по ним названы ошибки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96 учебных билетов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Ситуации заказчика превращены в учебные сценарии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Соответствие техническому заданию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174 пункта: 156 выполнено, по каждому указано, как проверить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Скорость под нагрузкой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100 пользователей: отклик 1,8 секунды. 825 записей в базу в секунду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Проверка расчётов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12 живых звонков и 408 проверок подсчёта баллов без расхождений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ПРОВЕРЕНО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УНИКАЛЬНОСТЬ РЕШЕНИЯ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Рабочее место повторяет живой АРМ-112, сверено по скриншотам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Настоящая телефония: софтфон, настольный аппарат, звонки в службы, доклады бригады.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Работает в закрытом контуре на процессоре, без интернета и 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Оценка объяснимая: ошибки словами памятки, подсчёт проверен 408 сверками.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Прогноз готовности к аттестации с честной проверкой достоверности.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ПЛАНЫ ПО РАЗВИТИЮ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Расшифровка сценариев реагирования заказчика для более точной оценки.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Вход через каталог учётных записей учебного центра.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Режим аттестации с протоколом и сертификатом.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Свободный диалог с заявителем на сервере с видеокартой.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Перенос в другие регионы: свой классификатор и своя памятка.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Работает без интернета, на обычном сервере без видеокарты.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Учит по настоящим правилам 112: классификатор, статусы, памятка.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Показывает, кто готов к аттестации, и доказывает, что прогнозу можно верить.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Цыганков Константин, руководитель проекта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 семейная: отец и сын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Опыт: телефонные платформы, голосовые роботы,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Тренажёр диспетчера ДДС-112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Тренажёр рабочего места диспетчера службы 112.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Обучающийся принимает вызов или карточку, работает в норматив, звонит в службы.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Система проверяет каждое действие и объясняет оценку.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stand-06-journal-f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тестирование, стенд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@VadimTsu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+7 902 851-14-49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Вадим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архитектура и телефония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@Konsttsyg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+7 982 598-49-15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Константин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pic>
        <p:nvPicPr>
          <p:cNvPr id="59" name="Picture 58" descr="konstantin-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397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vadim-fi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6467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Отец и сын. У одного телефонные платформы и голосовые роботы, у другого разработка и автоматизация. Вместе ведём продукт для колл-центров, поэтому вызовы и очереди это наша ежедневная работа.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Главное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Задачу выбрали потому, что телефония и обработка вызовов наша область. Здесь от качества работы диспетчера зависит, как быстро приедет помощь.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2" name="Рисунок 1">
            <a:extLst>
              <a:ext uri="{FF2B5EF4-FFF2-40B4-BE49-F238E27FC236}">
                <a16:creationId xmlns:a16="http://schemas.microsoft.com/office/drawing/2014/main" id="{38C461D0-0D39-4FD3-8AD4-0E832E8879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68417" y="1187395"/>
            <a:ext cx="3988905" cy="3000292"/>
          </a:xfrm>
          <a:prstGeom prst="roundRect">
            <a:avLst>
              <a:gd name="adj" fmla="val 3416"/>
            </a:avLst>
          </a:prstGeom>
          <a:noFill/>
          <a:ln>
            <a:noFill/>
          </a:ln>
        </p:spPr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Рабочий стенд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Адрес и демонстрационные логины в форме сдачи, логины показаны на странице входа.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Репозиторий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Открытый код, запуск одной командой, маршрут проверки за 10 минут.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Видео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Трёхминутная запись работы: звонок, карточка, оценка, аналитика.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ГДЕ ПОСМОТРЕТЬ</a:t>
            </a:r>
            <a:endParaRPr lang="ru-RU" dirty="0"/>
          </a:p>
        </p:txBody>
      </p:sp>
      <p:pic>
        <p:nvPicPr>
          <p:cNvPr id="13" name="Picture 12" descr="demo-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417" y="1187395"/>
            <a:ext cx="3988905" cy="300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