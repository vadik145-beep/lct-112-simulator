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268" r:id="rId25"/>
    <p:sldId id="375" r:id="rId12"/>
    <p:sldId id="371" r:id="rId17"/>
    <p:sldId id="389" r:id="rId53"/>
    <p:sldId id="387" r:id="rId51"/>
    <p:sldId id="376" r:id="rId20"/>
    <p:sldId id="386" r:id="rId50"/>
    <p:sldId id="385" r:id="rId49"/>
    <p:sldId id="384" r:id="rId48"/>
    <p:sldId id="388" r:id="rId52"/>
    <p:sldId id="383" r:id="rId47"/>
    <p:sldId id="382" r:id="rId46"/>
    <p:sldId id="381" r:id="rId45"/>
    <p:sldId id="374" r:id="rId18"/>
    <p:sldId id="377" r:id="rId15"/>
    <p:sldId id="378" r:id="rId22"/>
    <p:sldId id="260" r:id="rId19"/>
    <p:sldId id="391" r:id="rId55"/>
    <p:sldId id="390" r:id="rId54"/>
    <p:sldId id="379" r:id="rId23"/>
    <p:sldId id="380" r:id="rId24"/>
    <p:sldId id="366" r:id="rId9"/>
    <p:sldId id="362" r:id="rId10"/>
    <p:sldId id="364" r:id="rId11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slide" Target="slides/slide16.xml"/><Relationship Id="rId12" Type="http://schemas.openxmlformats.org/officeDocument/2006/relationships/slide" Target="slides/slide3.xml"/><Relationship Id="rId15" Type="http://schemas.openxmlformats.org/officeDocument/2006/relationships/slide" Target="slides/slide6.xml"/><Relationship Id="rId17" Type="http://schemas.openxmlformats.org/officeDocument/2006/relationships/slide" Target="slides/slide4.xml"/><Relationship Id="rId18" Type="http://schemas.openxmlformats.org/officeDocument/2006/relationships/slide" Target="slides/slide9.xml"/><Relationship Id="rId19" Type="http://schemas.openxmlformats.org/officeDocument/2006/relationships/slide" Target="slides/slide11.xml"/><Relationship Id="rId20" Type="http://schemas.openxmlformats.org/officeDocument/2006/relationships/slide" Target="slides/slide5.xml"/><Relationship Id="rId22" Type="http://schemas.openxmlformats.org/officeDocument/2006/relationships/slide" Target="slides/slide7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2.xml"/><Relationship Id="rId27" Type="http://schemas.openxmlformats.org/officeDocument/2006/relationships/slide" Target="slides/slide1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28.xml"/><Relationship Id="rId46" Type="http://schemas.openxmlformats.org/officeDocument/2006/relationships/slide" Target="slides/slide27.xml"/><Relationship Id="rId47" Type="http://schemas.openxmlformats.org/officeDocument/2006/relationships/slide" Target="slides/slide26.xml"/><Relationship Id="rId48" Type="http://schemas.openxmlformats.org/officeDocument/2006/relationships/slide" Target="slides/slide25.xml"/><Relationship Id="rId49" Type="http://schemas.openxmlformats.org/officeDocument/2006/relationships/slide" Target="slides/slide24.xml"/><Relationship Id="rId50" Type="http://schemas.openxmlformats.org/officeDocument/2006/relationships/slide" Target="slides/slide23.xml"/><Relationship Id="rId51" Type="http://schemas.openxmlformats.org/officeDocument/2006/relationships/slide" Target="slides/slide22.xml"/><Relationship Id="rId52" Type="http://schemas.openxmlformats.org/officeDocument/2006/relationships/slide" Target="slides/slide21.xml"/><Relationship Id="rId53" Type="http://schemas.openxmlformats.org/officeDocument/2006/relationships/slide" Target="slides/slide20.xml"/><Relationship Id="rId54" Type="http://schemas.openxmlformats.org/officeDocument/2006/relationships/slide" Target="slides/slide19.xml"/><Relationship Id="rId55" Type="http://schemas.openxmlformats.org/officeDocument/2006/relationships/slide" Target="slides/slide1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Ультратех</a:t>
            </a:r>
            <a:endParaRPr lang="ru-RU" sz="4800" dirty="0"/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 9. Учебное программное обеспечение для подготовки оператора ДДС города Москвы с использованием искусственного интеллекта. Постановщик: Департамент ГОЧСиПБ города Москвы, ГБУ «Система 112»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logo-f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6" y="329801"/>
            <a:ext cx="5193299" cy="108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Сотни служб подключены к системе 112.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Карточка уходит в ту, что отвечает за этот адрес.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На приём карточки 30 секунд.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Не успел, и она уходит в отметку «не оповещено».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Тренажёра нет.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Учат на живых вызовах, где ошибка это время приезда помощи.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Веб-приложение в закрытом контуре: интерфейс, сервер, база, телефония Asterisk.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Экран диспетчера повторяет АРМ-112 заказчика. Виртуальный телефон: руководители и бригада отвечают голосом.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Карточки пишет ИИ по сложности, он же оценивает действия и даёт советы. Модели работают на месте, без интернета.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Разворачивается одной командой, переносится на носителе.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Нужен службам, подключённым к 112, и учебным центрам.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400" dirty="0">
                <a:solidFill>
                  <a:schemeClr val="tx1"/>
                </a:solidFill>
              </a:rPr>
              <a:t>Подготовка новичков, переподготовка, аттестация.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400" dirty="0">
                <a:solidFill>
                  <a:schemeClr val="tx1"/>
                </a:solidFill>
              </a:rPr>
              <a:t>Класс из преподавателя и обучаемых: разные задания каждому без участия преподавателя.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400" dirty="0">
                <a:solidFill>
                  <a:schemeClr val="tx1"/>
                </a:solidFill>
              </a:rPr>
              <a:t>Дальше: каталог учётных записей, аттестация с протоколом, ролевой режим с преподавателем в роли начальника.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Диспетчер ДДС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Принимает карточку от 112 в норматив и ведёт статусы.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Звонит руководителям и бригаде, принимает доклады.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Виртуальный телефон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Зелёный кружок: набор номера, справочник до 10 номеров.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Собеседники торопят, уточняют, докладывают с места.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Преподаватель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Ведёт занятия, видит группу вживую.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Задания пишет ИИ, отчёты и советы по каждому.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Администратор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Пользователи и состояние сервисов.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Журнал аудита, резервные копии.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УМЕЕТ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КАК В ЖИВОЙ СИСТЕМЕ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554480"/>
            <a:ext cx="11155680" cy="37864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Реестр происшествий и карточка повторяют рабочее место АРМ-112: те же колонки, статусы и расположение блоков. Диспетчер садится и работает, а не изучает новую программу.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МАРКЕТИНГОВАЯ ЧАСТЬ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Пользователи: диспетчеры сотен служб, подключённых к системе 112, и учебные центры.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Ценность: новичок выходит на смену подготовленным, а не учится на живых вызовах.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Заход: пилот на одну группу в одной службе, дальше тиражирование без доработок.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Почему возьмут: интерфейс знакомый, обучение не отрывает действующих диспетчеров.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Перенос в регионы: классификатор и памятка подключаются файлами, код менять не нужно.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БИЗНЕСОВАЯ СОСТАВЛЯЮЩАЯ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Запуск: один сервер из требований ТЗ, без видеокарты и без платных лицензий.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Нет платы за обращения: модели работают внутри контура, подписок и счётчиков нет.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Одна установка тянет 100 пользователей и 20 занятий одновременно, это замерено.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Экономия: группа учится без риска для реальных вызовов и без наставника рядом.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Открытый код: заказчик не привязан к подрядчику и развивает решение сам.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Собеседники под контролем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Руководители и бригада говорят утверждёнными репликами, 819 фраз студийной озвучки.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Точность выбора 95 процентов.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Скорость на процессоре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Ответ текстом 0,9 секунды, голосом 1,7 секунды.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Без видеокарты.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Масштабируется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Адрес модели задаётся настройкой.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Можно вынести на сервер с видеокартой.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t>ИИ БЕЗ ОБЛАКА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Классификатор заказчика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1283 типа происшествий, службы подбираются по признакам карточки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Памятка по работе с АРМ-112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Статусы реагирования и виды нарушений, по ним названы ошибки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96 учебных билетов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Ситуации заказчика превращены в учебные сценарии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Соответствие техническому заданию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174 пункта: 140 выполнено, 31 частично, по каждому указано, как проверить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Скорость под нагрузкой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100 пользователей: отклик 1,8 секунды. 825 записей в базу в секунду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Рекомендации заказчика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10 рекомендаций от 16.10 отработаны, по каждой есть строка в матрице соответствия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ПРОВЕРЕНО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УНИКАЛЬНОСТЬ РЕШЕНИЯ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Рабочее место повторяет живой АРМ-112, сверено по скриншотам заказчика.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Виртуальный телефон: справочник, собеседники торопят, «машин нет», осложнение на месте, доклады бригады.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Работает в закрытом контуре на процессоре, без интернета и без видеокарты.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Оценка объяснимая: ошибки словами памятки, подсчёт проверен 408 сверками.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ИИ сам пишет задания, оценивает и даёт советы без участия преподавателя.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ПЛАНЫ ПО РАЗВИТИЮ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Расшифровка сценариев реагирования заказчика для более точной оценки.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Вход через каталог учётных записей учебного центра.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Режим аттестации с протоколом и сертификатом.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Ролевой режим: преподаватель играет начальника службы. Настольный SIP-аппарат диспетчера.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Перенос в другие регионы: свой классификатор и своя памятка.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Работает без интернета, на обычном сервере без видеокарты.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Экран диспетчера один в один с АРМ-112 заказчика, оценка по его памятке и классификатору.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Собеседники в телефоне ведут себя как живые: торопят, уточняют, докладывают с места.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Цыганков Константин, руководитель проекта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Участников: 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Команда семейная: отец и сын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Опыт: телефонные платформы, голосовые роботы, разработка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Тренажёр диспетчера ДДС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Тренажёр рабочего места диспетчера ДДС, подключённой к системе 112.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Обучающийся принимает карточку от 112, работает в норматив, с виртуального телефона звонит руководителям и бригаде.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ИИ пишет задания, проверяет каждое действие и объясняет оценку.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stand-06-journal-f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Разработка, тестирование, стенд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@VadimTsu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+7 902 851-14-49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Вадим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архитектура и телефония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@Konsttsyg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+7 982 598-49-15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Константин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</p:txBody>
      </p:sp>
      <p:pic>
        <p:nvPicPr>
          <p:cNvPr id="59" name="Picture 58" descr="konstantin-fi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397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vadim-fi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6467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Отец и сын. У одного телефонные платформы и голосовые роботы, у другого разработка и автоматизация. Вместе ведём продукт для колл-центров, поэтому вызовы и очереди это наша ежедневная работа.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Главное ограничение заказчика: без интернета и без видеокарты. Мы перевернули задачу: заявитель говорит только утверждённые преподавателем реплики, а модель понимает вопрос и выбирает подходящую. Ответ около секунды на обычном процессоре.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Второй поворот: из ответов заказчика выяснилось, что учить надо диспетчера ДДС, а не оператора 112, и что главное в телефонии это исходящие звонки в службы.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Задачу выбрали потому, что телефония и обработка вызовов наша область. Здесь от качества работы диспетчера зависит, как быстро приедет помощь.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2" name="Рисунок 1">
            <a:extLst>
              <a:ext uri="{FF2B5EF4-FFF2-40B4-BE49-F238E27FC236}">
                <a16:creationId xmlns:a16="http://schemas.microsoft.com/office/drawing/2014/main" id="{38C461D0-0D39-4FD3-8AD4-0E832E8879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68417" y="1187395"/>
            <a:ext cx="3988905" cy="3000292"/>
          </a:xfrm>
          <a:prstGeom prst="roundRect">
            <a:avLst>
              <a:gd name="adj" fmla="val 3416"/>
            </a:avLst>
          </a:prstGeom>
          <a:noFill/>
          <a:ln>
            <a:noFill/>
          </a:ln>
        </p:spPr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10F53"/>
                </a:solidFill>
              </a:rPr>
              <a:t>Рабочий стенд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10F53"/>
                </a:solidFill>
              </a:rPr>
              <a:t>https://155-212-186-2.sslip.io, логины и пароли на странице входа.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10F53"/>
                </a:solidFill>
              </a:rPr>
              <a:t>Репозиторий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10F53"/>
                </a:solidFill>
              </a:rPr>
              <a:t>github.com/Vadik145-beep/lct-112-simulator: открытый код, запуск одной командой, ссылки на всё в README.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10F53"/>
                </a:solidFill>
              </a:rPr>
              <a:t>Видео и документы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10F53"/>
                </a:solidFill>
              </a:rPr>
              <a:t>Ролик учебной сети «преподаватель и два обучаемых». Четыре PDF: техописание и руководства.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ГДЕ ПОСМОТРЕТЬ</a:t>
            </a:r>
            <a:endParaRPr lang="ru-RU" dirty="0"/>
          </a:p>
        </p:txBody>
      </p:sp>
      <p:pic>
        <p:nvPicPr>
          <p:cNvPr id="13" name="Picture 12" descr="demo-fi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417" y="1187395"/>
            <a:ext cx="3988905" cy="3000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РЕКОМЕНДАЦИИ ЗАКАЗЧИКА: ЧТО СДЕЛАНО (1 из 2)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1. Доступ к прототипу: стенд работает по ссылке из любой сети, логины на странице входа.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2. Логины и пароли по ролям на главной: таблица на странице входа, вход в один клик.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3. Документация в PDF: техническое описание, руководства администратора, преподавателя и обучаемого на диске.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4. Главная панель как в оригинале: журнал и карточка сверены со скриншотами заказчика.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5. Функции оператора 112 скрыты, включает только администратор. Приоритет: диспетчер ДДС.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РЕКОМЕНДАЦИИ ЗАКАЗЧИКА: ЧТО СДЕЛАНО (2 из 2)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6. Экран обучаемого ДДС не изменён. Экраны преподавателя и администратора разгружены.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7. Подсказки по интерфейсу: режим «подсказки» в панели тренажёра, справочник с памяткой, горячие клавиши.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8. Виртуальный телефон: зелёный кружок, набор номера, справочник до 10 номеров, роли заказчика.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9. Видео учебной сети «преподаватель и два обучаемых»: разные задания, оценка и советы без преподавателя.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10. ИИ формирует карточки, выдаёт обучаемым, оценивает и даёт рекомендации без участия преподавателя.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КАК ПРОХОДИТ ЗАНЯТИЕ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2" name="step1"/>
          <p:cNvSpPr/>
          <p:nvPr/>
        </p:nvSpPr>
        <p:spPr>
          <a:xfrm>
            <a:off x="457200" y="2103120"/>
            <a:ext cx="210312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badge1"/>
          <p:cNvSpPr/>
          <p:nvPr/>
        </p:nvSpPr>
        <p:spPr>
          <a:xfrm>
            <a:off x="1234439" y="1783079"/>
            <a:ext cx="548640" cy="548640"/>
          </a:xfrm>
          <a:prstGeom prst="ellipse">
            <a:avLst/>
          </a:prstGeom>
          <a:solidFill>
            <a:srgbClr val="52097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4" name="step_head1"/>
          <p:cNvSpPr txBox="1"/>
          <p:nvPr/>
        </p:nvSpPr>
        <p:spPr>
          <a:xfrm>
            <a:off x="548640" y="2468879"/>
            <a:ext cx="1920239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Преподаватель создаёт занятие</a:t>
            </a:r>
          </a:p>
        </p:txBody>
      </p:sp>
      <p:sp>
        <p:nvSpPr>
          <p:cNvPr id="25" name="step_body1"/>
          <p:cNvSpPr txBox="1"/>
          <p:nvPr/>
        </p:nvSpPr>
        <p:spPr>
          <a:xfrm>
            <a:off x="548640" y="3291839"/>
            <a:ext cx="1920239" cy="1371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Выбирает группу и сложность, ставит галочку «Задания формирует ИИ».</a:t>
            </a:r>
          </a:p>
        </p:txBody>
      </p:sp>
      <p:cxnSp>
        <p:nvCxnSpPr>
          <p:cNvPr id="26" name="arrow"/>
          <p:cNvCxnSpPr/>
          <p:nvPr/>
        </p:nvCxnSpPr>
        <p:spPr>
          <a:xfrm>
            <a:off x="2578608" y="3429000"/>
            <a:ext cx="146304" cy="0"/>
          </a:xfrm>
          <a:prstGeom prst="line">
            <a:avLst/>
          </a:prstGeom>
          <a:ln w="31750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step2"/>
          <p:cNvSpPr/>
          <p:nvPr/>
        </p:nvSpPr>
        <p:spPr>
          <a:xfrm>
            <a:off x="2743200" y="2103120"/>
            <a:ext cx="210312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badge2"/>
          <p:cNvSpPr/>
          <p:nvPr/>
        </p:nvSpPr>
        <p:spPr>
          <a:xfrm>
            <a:off x="3520440" y="1783079"/>
            <a:ext cx="548640" cy="548640"/>
          </a:xfrm>
          <a:prstGeom prst="ellipse">
            <a:avLst/>
          </a:prstGeom>
          <a:solidFill>
            <a:srgbClr val="52097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9" name="step_head2"/>
          <p:cNvSpPr txBox="1"/>
          <p:nvPr/>
        </p:nvSpPr>
        <p:spPr>
          <a:xfrm>
            <a:off x="2834640" y="2468879"/>
            <a:ext cx="1920239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ИИ пишет карточки</a:t>
            </a:r>
          </a:p>
        </p:txBody>
      </p:sp>
      <p:sp>
        <p:nvSpPr>
          <p:cNvPr id="30" name="step_body2"/>
          <p:cNvSpPr txBox="1"/>
          <p:nvPr/>
        </p:nvSpPr>
        <p:spPr>
          <a:xfrm>
            <a:off x="2834640" y="3291839"/>
            <a:ext cx="1920239" cy="1371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Каждому обучаемому свои. На сложности 2 и 3 в карточку заложены ошибки оператора 112.</a:t>
            </a:r>
          </a:p>
        </p:txBody>
      </p:sp>
      <p:cxnSp>
        <p:nvCxnSpPr>
          <p:cNvPr id="31" name="arrow"/>
          <p:cNvCxnSpPr/>
          <p:nvPr/>
        </p:nvCxnSpPr>
        <p:spPr>
          <a:xfrm>
            <a:off x="4864607" y="3429000"/>
            <a:ext cx="146305" cy="0"/>
          </a:xfrm>
          <a:prstGeom prst="line">
            <a:avLst/>
          </a:prstGeom>
          <a:ln w="31750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tep3"/>
          <p:cNvSpPr/>
          <p:nvPr/>
        </p:nvSpPr>
        <p:spPr>
          <a:xfrm>
            <a:off x="5029200" y="2103120"/>
            <a:ext cx="210312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badge3"/>
          <p:cNvSpPr/>
          <p:nvPr/>
        </p:nvSpPr>
        <p:spPr>
          <a:xfrm>
            <a:off x="5806440" y="1783079"/>
            <a:ext cx="548640" cy="548640"/>
          </a:xfrm>
          <a:prstGeom prst="ellipse">
            <a:avLst/>
          </a:prstGeom>
          <a:solidFill>
            <a:srgbClr val="52097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4" name="step_head3"/>
          <p:cNvSpPr txBox="1"/>
          <p:nvPr/>
        </p:nvSpPr>
        <p:spPr>
          <a:xfrm>
            <a:off x="5120640" y="2468879"/>
            <a:ext cx="1920239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Диспетчер принимает карточку</a:t>
            </a:r>
          </a:p>
        </p:txBody>
      </p:sp>
      <p:sp>
        <p:nvSpPr>
          <p:cNvPr id="35" name="step_body3"/>
          <p:cNvSpPr txBox="1"/>
          <p:nvPr/>
        </p:nvSpPr>
        <p:spPr>
          <a:xfrm>
            <a:off x="5120640" y="3291839"/>
            <a:ext cx="1920239" cy="1371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Экран как в живом АРМ-112. На решение «Принята» или «Не принята» 30 секунд.</a:t>
            </a:r>
          </a:p>
        </p:txBody>
      </p:sp>
      <p:cxnSp>
        <p:nvCxnSpPr>
          <p:cNvPr id="36" name="arrow"/>
          <p:cNvCxnSpPr/>
          <p:nvPr/>
        </p:nvCxnSpPr>
        <p:spPr>
          <a:xfrm>
            <a:off x="7150607" y="3429000"/>
            <a:ext cx="146305" cy="0"/>
          </a:xfrm>
          <a:prstGeom prst="line">
            <a:avLst/>
          </a:prstGeom>
          <a:ln w="31750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tep4"/>
          <p:cNvSpPr/>
          <p:nvPr/>
        </p:nvSpPr>
        <p:spPr>
          <a:xfrm>
            <a:off x="7315200" y="2103120"/>
            <a:ext cx="210312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badge4"/>
          <p:cNvSpPr/>
          <p:nvPr/>
        </p:nvSpPr>
        <p:spPr>
          <a:xfrm>
            <a:off x="8092440" y="1783079"/>
            <a:ext cx="548640" cy="548640"/>
          </a:xfrm>
          <a:prstGeom prst="ellipse">
            <a:avLst/>
          </a:prstGeom>
          <a:solidFill>
            <a:srgbClr val="52097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9" name="step_head4"/>
          <p:cNvSpPr txBox="1"/>
          <p:nvPr/>
        </p:nvSpPr>
        <p:spPr>
          <a:xfrm>
            <a:off x="7406640" y="2468879"/>
            <a:ext cx="1920239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Звонит по виртуальному телефону</a:t>
            </a:r>
          </a:p>
        </p:txBody>
      </p:sp>
      <p:sp>
        <p:nvSpPr>
          <p:cNvPr id="40" name="step_body4"/>
          <p:cNvSpPr txBox="1"/>
          <p:nvPr/>
        </p:nvSpPr>
        <p:spPr>
          <a:xfrm>
            <a:off x="7406640" y="3291839"/>
            <a:ext cx="1920239" cy="1371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Начальнику бригады, руководителю. Бригада перезванивает с докладами.</a:t>
            </a:r>
          </a:p>
        </p:txBody>
      </p:sp>
      <p:cxnSp>
        <p:nvCxnSpPr>
          <p:cNvPr id="41" name="arrow"/>
          <p:cNvCxnSpPr/>
          <p:nvPr/>
        </p:nvCxnSpPr>
        <p:spPr>
          <a:xfrm>
            <a:off x="9436608" y="3429000"/>
            <a:ext cx="146304" cy="0"/>
          </a:xfrm>
          <a:prstGeom prst="line">
            <a:avLst/>
          </a:prstGeom>
          <a:ln w="31750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step5"/>
          <p:cNvSpPr/>
          <p:nvPr/>
        </p:nvSpPr>
        <p:spPr>
          <a:xfrm>
            <a:off x="9601200" y="2103120"/>
            <a:ext cx="210312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5209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badge5"/>
          <p:cNvSpPr/>
          <p:nvPr/>
        </p:nvSpPr>
        <p:spPr>
          <a:xfrm>
            <a:off x="10378440" y="1783079"/>
            <a:ext cx="548640" cy="548640"/>
          </a:xfrm>
          <a:prstGeom prst="ellipse">
            <a:avLst/>
          </a:prstGeom>
          <a:solidFill>
            <a:srgbClr val="52097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4" name="step_head5"/>
          <p:cNvSpPr txBox="1"/>
          <p:nvPr/>
        </p:nvSpPr>
        <p:spPr>
          <a:xfrm>
            <a:off x="9692640" y="2468879"/>
            <a:ext cx="1920239" cy="8229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500" b="1">
                <a:solidFill>
                  <a:srgbClr val="520977"/>
                </a:solidFill>
              </a:rPr>
              <a:t>ИИ оценивает и советует</a:t>
            </a:r>
          </a:p>
        </p:txBody>
      </p:sp>
      <p:sp>
        <p:nvSpPr>
          <p:cNvPr id="45" name="step_body5"/>
          <p:cNvSpPr txBox="1"/>
          <p:nvPr/>
        </p:nvSpPr>
        <p:spPr>
          <a:xfrm>
            <a:off x="9692640" y="3291839"/>
            <a:ext cx="1920239" cy="13716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1200" b="0">
                <a:solidFill>
                  <a:srgbClr val="2D1451"/>
                </a:solidFill>
              </a:rPr>
              <a:t>Балл по составляющим, ошибки словами памятки заказчика, советы на следующее занятие.</a:t>
            </a:r>
          </a:p>
        </p:txBody>
      </p:sp>
      <p:sp>
        <p:nvSpPr>
          <p:cNvPr id="46" name="flow_caption"/>
          <p:cNvSpPr txBox="1"/>
          <p:nvPr/>
        </p:nvSpPr>
        <p:spPr>
          <a:xfrm>
            <a:off x="457200" y="5120640"/>
            <a:ext cx="1124712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1500" b="0">
                <a:solidFill>
                  <a:srgbClr val="2D1451"/>
                </a:solidFill>
              </a:rPr>
              <a:t>Преподаватель нужен только чтобы запустить занятие. Всё остальное происходит без интернета, на обычном сервере без видеокарты.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310F53"/>
                </a:solidFill>
              </a:rPr>
              <a:t>Торопит.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На сложности 3 начальник бригады обрывает: «Короче, что у вас?». Диспетчер должен коротко передать адрес, что случилось и кто пострадал.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310F53"/>
                </a:solidFill>
              </a:rPr>
              <a:t>«Машин нет».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Бригада не может выехать. Диспетчер должен позвонить руководителю, чтобы тот снял машину с планового выезда.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310F53"/>
                </a:solidFill>
              </a:rPr>
              <a:t>Осложнение на месте.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Специалист бригады звонит с места: нужна ещё одна служба. Диспетчер оповещает её и вносит статус.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СОБЕСЕДНИКИ ВЕДУТ СЕБЯ КАК ЖИВЫЕ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alker_num1"/>
          <p:cNvSpPr txBox="1"/>
          <p:nvPr/>
        </p:nvSpPr>
        <p:spPr>
          <a:xfrm>
            <a:off x="1541018" y="1366572"/>
            <a:ext cx="1504594" cy="140116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4400" b="1">
                <a:solidFill>
                  <a:srgbClr val="FF0053"/>
                </a:solidFill>
              </a:rPr>
              <a:t>1</a:t>
            </a:r>
          </a:p>
        </p:txBody>
      </p:sp>
      <p:sp>
        <p:nvSpPr>
          <p:cNvPr id="60" name="talker_num2"/>
          <p:cNvSpPr txBox="1"/>
          <p:nvPr/>
        </p:nvSpPr>
        <p:spPr>
          <a:xfrm>
            <a:off x="5340262" y="1366572"/>
            <a:ext cx="1504594" cy="140116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4400" b="1">
                <a:solidFill>
                  <a:srgbClr val="FF0053"/>
                </a:solidFill>
              </a:rPr>
              <a:t>2</a:t>
            </a:r>
          </a:p>
        </p:txBody>
      </p:sp>
      <p:sp>
        <p:nvSpPr>
          <p:cNvPr id="61" name="talker_num3"/>
          <p:cNvSpPr txBox="1"/>
          <p:nvPr/>
        </p:nvSpPr>
        <p:spPr>
          <a:xfrm>
            <a:off x="9337010" y="1396603"/>
            <a:ext cx="1504594" cy="1401168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4400" b="1">
                <a:solidFill>
                  <a:srgbClr val="FF0053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ВХОД: ЛОГИНЫ И ПАРОЛИ НА ГЛАВНОЙ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7589520" cy="42691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480" y="5567553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Эксперт открывает ссылку и сразу заходит под любой ролью, без переписки и инструкций.</a:t>
            </a:r>
          </a:p>
        </p:txBody>
      </p:sp>
      <p:sp>
        <p:nvSpPr>
          <p:cNvPr id="24" name="frame"/>
          <p:cNvSpPr/>
          <p:nvPr/>
        </p:nvSpPr>
        <p:spPr>
          <a:xfrm>
            <a:off x="411480" y="1188720"/>
            <a:ext cx="7589520" cy="4269105"/>
          </a:xfrm>
          <a:prstGeom prst="rect">
            <a:avLst/>
          </a:prstGeom>
          <a:noFill/>
          <a:ln w="12700">
            <a:solidFill>
              <a:srgbClr val="C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allout1"/>
          <p:cNvSpPr/>
          <p:nvPr/>
        </p:nvSpPr>
        <p:spPr>
          <a:xfrm>
            <a:off x="8275320" y="1188720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allout_text1"/>
          <p:cNvSpPr txBox="1"/>
          <p:nvPr/>
        </p:nvSpPr>
        <p:spPr>
          <a:xfrm>
            <a:off x="8275320" y="1188720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1. Страница оформлена как вход в настоящий АРМ-112.</a:t>
            </a:r>
          </a:p>
        </p:txBody>
      </p:sp>
      <p:cxnSp>
        <p:nvCxnSpPr>
          <p:cNvPr id="27" name="arrow"/>
          <p:cNvCxnSpPr/>
          <p:nvPr/>
        </p:nvCxnSpPr>
        <p:spPr>
          <a:xfrm flipH="1">
            <a:off x="7110073" y="1645920"/>
            <a:ext cx="1165247" cy="224863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rker"/>
          <p:cNvSpPr/>
          <p:nvPr/>
        </p:nvSpPr>
        <p:spPr>
          <a:xfrm>
            <a:off x="6820281" y="1763077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callout2"/>
          <p:cNvSpPr/>
          <p:nvPr/>
        </p:nvSpPr>
        <p:spPr>
          <a:xfrm>
            <a:off x="8275320" y="2212848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callout_text2"/>
          <p:cNvSpPr txBox="1"/>
          <p:nvPr/>
        </p:nvSpPr>
        <p:spPr>
          <a:xfrm>
            <a:off x="8275320" y="2212848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2. Таблица временных логинов и паролей по ролям прямо на странице входа, как просил заказчик.</a:t>
            </a:r>
          </a:p>
        </p:txBody>
      </p:sp>
      <p:cxnSp>
        <p:nvCxnSpPr>
          <p:cNvPr id="31" name="arrow"/>
          <p:cNvCxnSpPr/>
          <p:nvPr/>
        </p:nvCxnSpPr>
        <p:spPr>
          <a:xfrm flipH="1">
            <a:off x="7575787" y="2670048"/>
            <a:ext cx="699533" cy="882425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marker"/>
          <p:cNvSpPr/>
          <p:nvPr/>
        </p:nvSpPr>
        <p:spPr>
          <a:xfrm>
            <a:off x="7342060" y="3537127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callout3"/>
          <p:cNvSpPr/>
          <p:nvPr/>
        </p:nvSpPr>
        <p:spPr>
          <a:xfrm>
            <a:off x="8275320" y="3236976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allout_text3"/>
          <p:cNvSpPr txBox="1"/>
          <p:nvPr/>
        </p:nvSpPr>
        <p:spPr>
          <a:xfrm>
            <a:off x="8275320" y="3236976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3. «Войти» рядом с каждой ролью: преподаватель, обучающийся, администратор. Один клик.</a:t>
            </a:r>
          </a:p>
        </p:txBody>
      </p:sp>
      <p:cxnSp>
        <p:nvCxnSpPr>
          <p:cNvPr id="35" name="arrow"/>
          <p:cNvCxnSpPr/>
          <p:nvPr/>
        </p:nvCxnSpPr>
        <p:spPr>
          <a:xfrm flipH="1">
            <a:off x="7560033" y="3694176"/>
            <a:ext cx="715287" cy="489942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rker"/>
          <p:cNvSpPr/>
          <p:nvPr/>
        </p:nvSpPr>
        <p:spPr>
          <a:xfrm>
            <a:off x="7294626" y="4134802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КАРТОЧКА ПРОИСШЕСТВИЯ КАК В ЖИВОМ АРМ-112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7589520" cy="42691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480" y="5567553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Диспетчер учится на том же экране, на котором будет работать: журнал, карточка, статусы один в один.</a:t>
            </a:r>
          </a:p>
        </p:txBody>
      </p:sp>
      <p:sp>
        <p:nvSpPr>
          <p:cNvPr id="24" name="frame"/>
          <p:cNvSpPr/>
          <p:nvPr/>
        </p:nvSpPr>
        <p:spPr>
          <a:xfrm>
            <a:off x="411480" y="1188720"/>
            <a:ext cx="7589520" cy="4269105"/>
          </a:xfrm>
          <a:prstGeom prst="rect">
            <a:avLst/>
          </a:prstGeom>
          <a:noFill/>
          <a:ln w="12700">
            <a:solidFill>
              <a:srgbClr val="C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allout1"/>
          <p:cNvSpPr/>
          <p:nvPr/>
        </p:nvSpPr>
        <p:spPr>
          <a:xfrm>
            <a:off x="8275320" y="1188720"/>
            <a:ext cx="3520440" cy="800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allout_text1"/>
          <p:cNvSpPr txBox="1"/>
          <p:nvPr/>
        </p:nvSpPr>
        <p:spPr>
          <a:xfrm>
            <a:off x="8275320" y="1188720"/>
            <a:ext cx="3520440" cy="8001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1. Карточка пришла от оператора 112: заявитель, адрес, описание. Редактировать нельзя, как в жизни.</a:t>
            </a:r>
          </a:p>
        </p:txBody>
      </p:sp>
      <p:cxnSp>
        <p:nvCxnSpPr>
          <p:cNvPr id="27" name="arrow"/>
          <p:cNvCxnSpPr/>
          <p:nvPr/>
        </p:nvCxnSpPr>
        <p:spPr>
          <a:xfrm flipH="1" flipV="1">
            <a:off x="3673841" y="1477098"/>
            <a:ext cx="4601479" cy="111672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rker"/>
          <p:cNvSpPr/>
          <p:nvPr/>
        </p:nvSpPr>
        <p:spPr>
          <a:xfrm>
            <a:off x="3381279" y="1336167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callout2"/>
          <p:cNvSpPr/>
          <p:nvPr/>
        </p:nvSpPr>
        <p:spPr>
          <a:xfrm>
            <a:off x="8275320" y="2098548"/>
            <a:ext cx="3520440" cy="800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callout_text2"/>
          <p:cNvSpPr txBox="1"/>
          <p:nvPr/>
        </p:nvSpPr>
        <p:spPr>
          <a:xfrm>
            <a:off x="8275320" y="2098548"/>
            <a:ext cx="3520440" cy="8001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2. Норматив 30 секунд на решение «Принята» или «Не принята». Таймер идёт с момента появления карточки.</a:t>
            </a:r>
          </a:p>
        </p:txBody>
      </p:sp>
      <p:cxnSp>
        <p:nvCxnSpPr>
          <p:cNvPr id="31" name="arrow"/>
          <p:cNvCxnSpPr/>
          <p:nvPr/>
        </p:nvCxnSpPr>
        <p:spPr>
          <a:xfrm flipH="1" flipV="1">
            <a:off x="6937148" y="2001776"/>
            <a:ext cx="1338172" cy="496822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marker"/>
          <p:cNvSpPr/>
          <p:nvPr/>
        </p:nvSpPr>
        <p:spPr>
          <a:xfrm>
            <a:off x="6654260" y="1810512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callout3"/>
          <p:cNvSpPr/>
          <p:nvPr/>
        </p:nvSpPr>
        <p:spPr>
          <a:xfrm>
            <a:off x="8275320" y="3008376"/>
            <a:ext cx="3520440" cy="800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allout_text3"/>
          <p:cNvSpPr txBox="1"/>
          <p:nvPr/>
        </p:nvSpPr>
        <p:spPr>
          <a:xfrm>
            <a:off x="8275320" y="3008376"/>
            <a:ext cx="3520440" cy="8001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3. Флажок: диспетчер отмечает ошибку оператора 112, например неверный дом. Это тоже оценивается.</a:t>
            </a:r>
          </a:p>
        </p:txBody>
      </p:sp>
      <p:cxnSp>
        <p:nvCxnSpPr>
          <p:cNvPr id="35" name="arrow"/>
          <p:cNvCxnSpPr/>
          <p:nvPr/>
        </p:nvCxnSpPr>
        <p:spPr>
          <a:xfrm flipH="1" flipV="1">
            <a:off x="3715566" y="2131883"/>
            <a:ext cx="4559754" cy="1276543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rker"/>
          <p:cNvSpPr/>
          <p:nvPr/>
        </p:nvSpPr>
        <p:spPr>
          <a:xfrm>
            <a:off x="3428714" y="1952815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callout4"/>
          <p:cNvSpPr/>
          <p:nvPr/>
        </p:nvSpPr>
        <p:spPr>
          <a:xfrm>
            <a:off x="8275320" y="3918204"/>
            <a:ext cx="3520440" cy="800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callout_text4"/>
          <p:cNvSpPr txBox="1"/>
          <p:nvPr/>
        </p:nvSpPr>
        <p:spPr>
          <a:xfrm>
            <a:off x="8275320" y="3918204"/>
            <a:ext cx="3520440" cy="8001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4. Панель тренажёра: подсказки, норматив, итог. Для аттестации её можно выключить.</a:t>
            </a:r>
          </a:p>
        </p:txBody>
      </p:sp>
      <p:cxnSp>
        <p:nvCxnSpPr>
          <p:cNvPr id="39" name="arrow"/>
          <p:cNvCxnSpPr/>
          <p:nvPr/>
        </p:nvCxnSpPr>
        <p:spPr>
          <a:xfrm flipH="1" flipV="1">
            <a:off x="6918619" y="3365193"/>
            <a:ext cx="1356701" cy="953061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marker"/>
          <p:cNvSpPr/>
          <p:nvPr/>
        </p:nvSpPr>
        <p:spPr>
          <a:xfrm>
            <a:off x="6654260" y="3138678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callout5"/>
          <p:cNvSpPr/>
          <p:nvPr/>
        </p:nvSpPr>
        <p:spPr>
          <a:xfrm>
            <a:off x="8275320" y="4828032"/>
            <a:ext cx="3520440" cy="800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callout_text5"/>
          <p:cNvSpPr txBox="1"/>
          <p:nvPr/>
        </p:nvSpPr>
        <p:spPr>
          <a:xfrm>
            <a:off x="8275320" y="4828032"/>
            <a:ext cx="3520440" cy="8001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5. Внизу статусы службы: принята, начало реагирования, прибытие, работы завершены, номер наряда.</a:t>
            </a:r>
          </a:p>
        </p:txBody>
      </p:sp>
      <p:cxnSp>
        <p:nvCxnSpPr>
          <p:cNvPr id="43" name="arrow"/>
          <p:cNvCxnSpPr/>
          <p:nvPr/>
        </p:nvCxnSpPr>
        <p:spPr>
          <a:xfrm flipH="1" flipV="1">
            <a:off x="3364252" y="4586202"/>
            <a:ext cx="4911068" cy="641880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marker"/>
          <p:cNvSpPr/>
          <p:nvPr/>
        </p:nvSpPr>
        <p:spPr>
          <a:xfrm>
            <a:off x="3072955" y="4428896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" name="callout6"/>
          <p:cNvSpPr/>
          <p:nvPr/>
        </p:nvSpPr>
        <p:spPr>
          <a:xfrm>
            <a:off x="8275320" y="5737860"/>
            <a:ext cx="3520440" cy="8001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callout_text6"/>
          <p:cNvSpPr txBox="1"/>
          <p:nvPr/>
        </p:nvSpPr>
        <p:spPr>
          <a:xfrm>
            <a:off x="8275320" y="5737860"/>
            <a:ext cx="3520440" cy="8001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6. Зелёный кружок: виртуальный телефон. Единственное, что добавлено к экрану оригинала.</a:t>
            </a:r>
          </a:p>
        </p:txBody>
      </p:sp>
      <p:cxnSp>
        <p:nvCxnSpPr>
          <p:cNvPr id="47" name="arrow"/>
          <p:cNvCxnSpPr/>
          <p:nvPr/>
        </p:nvCxnSpPr>
        <p:spPr>
          <a:xfrm flipH="1" flipV="1">
            <a:off x="6474279" y="5063138"/>
            <a:ext cx="1801041" cy="1074772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marker"/>
          <p:cNvSpPr/>
          <p:nvPr/>
        </p:nvSpPr>
        <p:spPr>
          <a:xfrm>
            <a:off x="6203632" y="4846320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ВИРТУАЛЬНЫЙ ТЕЛЕФОН ДИСПЕТЧЕРА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7589520" cy="42691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480" y="5567553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Заказчик назвал виртуальный телефон приоритетом при оценке. Он сделан ровно по его описанию.</a:t>
            </a:r>
          </a:p>
        </p:txBody>
      </p:sp>
      <p:sp>
        <p:nvSpPr>
          <p:cNvPr id="24" name="frame"/>
          <p:cNvSpPr/>
          <p:nvPr/>
        </p:nvSpPr>
        <p:spPr>
          <a:xfrm>
            <a:off x="411480" y="1188720"/>
            <a:ext cx="7589520" cy="4269105"/>
          </a:xfrm>
          <a:prstGeom prst="rect">
            <a:avLst/>
          </a:prstGeom>
          <a:noFill/>
          <a:ln w="12700">
            <a:solidFill>
              <a:srgbClr val="C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allout1"/>
          <p:cNvSpPr/>
          <p:nvPr/>
        </p:nvSpPr>
        <p:spPr>
          <a:xfrm>
            <a:off x="8275320" y="1188720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allout_text1"/>
          <p:cNvSpPr txBox="1"/>
          <p:nvPr/>
        </p:nvSpPr>
        <p:spPr>
          <a:xfrm>
            <a:off x="8275320" y="1188720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1. Клавиатура: номер набирается вручную, как на настоящем аппарате. Неверный номер: «не существует».</a:t>
            </a:r>
          </a:p>
        </p:txBody>
      </p:sp>
      <p:cxnSp>
        <p:nvCxnSpPr>
          <p:cNvPr id="27" name="arrow"/>
          <p:cNvCxnSpPr/>
          <p:nvPr/>
        </p:nvCxnSpPr>
        <p:spPr>
          <a:xfrm flipH="1">
            <a:off x="5112599" y="1645920"/>
            <a:ext cx="3162721" cy="1058790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rker"/>
          <p:cNvSpPr/>
          <p:nvPr/>
        </p:nvSpPr>
        <p:spPr>
          <a:xfrm>
            <a:off x="4828032" y="2616898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callout2"/>
          <p:cNvSpPr/>
          <p:nvPr/>
        </p:nvSpPr>
        <p:spPr>
          <a:xfrm>
            <a:off x="8275320" y="2212848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callout_text2"/>
          <p:cNvSpPr txBox="1"/>
          <p:nvPr/>
        </p:nvSpPr>
        <p:spPr>
          <a:xfrm>
            <a:off x="8275320" y="2212848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2. «Вызов». Слышны гудки, потом собеседник отвечает голосом.</a:t>
            </a:r>
          </a:p>
        </p:txBody>
      </p:sp>
      <p:cxnSp>
        <p:nvCxnSpPr>
          <p:cNvPr id="31" name="arrow"/>
          <p:cNvCxnSpPr/>
          <p:nvPr/>
        </p:nvCxnSpPr>
        <p:spPr>
          <a:xfrm flipH="1">
            <a:off x="5117401" y="2670048"/>
            <a:ext cx="3157919" cy="654864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marker"/>
          <p:cNvSpPr/>
          <p:nvPr/>
        </p:nvSpPr>
        <p:spPr>
          <a:xfrm>
            <a:off x="4828032" y="3219316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callout3"/>
          <p:cNvSpPr/>
          <p:nvPr/>
        </p:nvSpPr>
        <p:spPr>
          <a:xfrm>
            <a:off x="8275320" y="3236976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allout_text3"/>
          <p:cNvSpPr txBox="1"/>
          <p:nvPr/>
        </p:nvSpPr>
        <p:spPr>
          <a:xfrm>
            <a:off x="8275320" y="3236976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3. Номера задаёт преподаватель, до 10 на службу. Заявителю можно позвонить только с его разрешения.</a:t>
            </a:r>
          </a:p>
        </p:txBody>
      </p:sp>
      <p:cxnSp>
        <p:nvCxnSpPr>
          <p:cNvPr id="35" name="arrow"/>
          <p:cNvCxnSpPr/>
          <p:nvPr/>
        </p:nvCxnSpPr>
        <p:spPr>
          <a:xfrm flipH="1">
            <a:off x="5120639" y="3694176"/>
            <a:ext cx="3154681" cy="8169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rker"/>
          <p:cNvSpPr/>
          <p:nvPr/>
        </p:nvSpPr>
        <p:spPr>
          <a:xfrm>
            <a:off x="4828032" y="3565588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callout4"/>
          <p:cNvSpPr/>
          <p:nvPr/>
        </p:nvSpPr>
        <p:spPr>
          <a:xfrm>
            <a:off x="8275320" y="4261104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callout_text4"/>
          <p:cNvSpPr txBox="1"/>
          <p:nvPr/>
        </p:nvSpPr>
        <p:spPr>
          <a:xfrm>
            <a:off x="8275320" y="4261104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4. Справочник: руководитель организации, начальник отдела реагирования, начальник и специалист бригады.</a:t>
            </a:r>
          </a:p>
        </p:txBody>
      </p:sp>
      <p:cxnSp>
        <p:nvCxnSpPr>
          <p:cNvPr id="39" name="arrow"/>
          <p:cNvCxnSpPr/>
          <p:nvPr/>
        </p:nvCxnSpPr>
        <p:spPr>
          <a:xfrm flipH="1" flipV="1">
            <a:off x="5119095" y="4270100"/>
            <a:ext cx="3156225" cy="448204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marker"/>
          <p:cNvSpPr/>
          <p:nvPr/>
        </p:nvSpPr>
        <p:spPr>
          <a:xfrm>
            <a:off x="4828032" y="4111085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callout5"/>
          <p:cNvSpPr/>
          <p:nvPr/>
        </p:nvSpPr>
        <p:spPr>
          <a:xfrm>
            <a:off x="8275320" y="5285232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callout_text5"/>
          <p:cNvSpPr txBox="1"/>
          <p:nvPr/>
        </p:nvSpPr>
        <p:spPr>
          <a:xfrm>
            <a:off x="8275320" y="5285232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5. Зелёный кружок на панели открывает телефон. Нажал, и можно звонить.</a:t>
            </a:r>
          </a:p>
        </p:txBody>
      </p:sp>
      <p:cxnSp>
        <p:nvCxnSpPr>
          <p:cNvPr id="43" name="arrow"/>
          <p:cNvCxnSpPr/>
          <p:nvPr/>
        </p:nvCxnSpPr>
        <p:spPr>
          <a:xfrm flipH="1" flipV="1">
            <a:off x="6485502" y="5040252"/>
            <a:ext cx="1789818" cy="702180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marker"/>
          <p:cNvSpPr/>
          <p:nvPr/>
        </p:nvSpPr>
        <p:spPr>
          <a:xfrm>
            <a:off x="6203632" y="4846320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СПРАВОЧНИК ТЕЛЕФОНОВ ВЕДЁТ ПРЕПОДАВАТЕЛЬ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7589520" cy="47434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480" y="604189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Преподаватель сам решает, кому диспетчер сможет позвонить на занятии.</a:t>
            </a:r>
          </a:p>
        </p:txBody>
      </p:sp>
      <p:sp>
        <p:nvSpPr>
          <p:cNvPr id="24" name="frame"/>
          <p:cNvSpPr/>
          <p:nvPr/>
        </p:nvSpPr>
        <p:spPr>
          <a:xfrm>
            <a:off x="411480" y="1188720"/>
            <a:ext cx="7589520" cy="4743450"/>
          </a:xfrm>
          <a:prstGeom prst="rect">
            <a:avLst/>
          </a:prstGeom>
          <a:noFill/>
          <a:ln w="12700">
            <a:solidFill>
              <a:srgbClr val="C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allout1"/>
          <p:cNvSpPr/>
          <p:nvPr/>
        </p:nvSpPr>
        <p:spPr>
          <a:xfrm>
            <a:off x="8275320" y="1188720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allout_text1"/>
          <p:cNvSpPr txBox="1"/>
          <p:nvPr/>
        </p:nvSpPr>
        <p:spPr>
          <a:xfrm>
            <a:off x="8275320" y="1188720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1. Выбирается служба: Мосгаз, Мосводоканал, МОЭК, ЖКХ, Гормост.</a:t>
            </a:r>
          </a:p>
        </p:txBody>
      </p:sp>
      <p:cxnSp>
        <p:nvCxnSpPr>
          <p:cNvPr id="27" name="arrow"/>
          <p:cNvCxnSpPr/>
          <p:nvPr/>
        </p:nvCxnSpPr>
        <p:spPr>
          <a:xfrm flipH="1">
            <a:off x="3933766" y="1645920"/>
            <a:ext cx="4341554" cy="497509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rker"/>
          <p:cNvSpPr/>
          <p:nvPr/>
        </p:nvSpPr>
        <p:spPr>
          <a:xfrm>
            <a:off x="3642169" y="2023967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callout2"/>
          <p:cNvSpPr/>
          <p:nvPr/>
        </p:nvSpPr>
        <p:spPr>
          <a:xfrm>
            <a:off x="8275320" y="2212848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callout_text2"/>
          <p:cNvSpPr txBox="1"/>
          <p:nvPr/>
        </p:nvSpPr>
        <p:spPr>
          <a:xfrm>
            <a:off x="8275320" y="2212848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2. Должность из четырёх ролей заказчика, ФИО и короткий номер. Справочник один для всех преподавателей.</a:t>
            </a:r>
          </a:p>
        </p:txBody>
      </p:sp>
      <p:cxnSp>
        <p:nvCxnSpPr>
          <p:cNvPr id="31" name="arrow"/>
          <p:cNvCxnSpPr/>
          <p:nvPr/>
        </p:nvCxnSpPr>
        <p:spPr>
          <a:xfrm flipH="1">
            <a:off x="1634004" y="2670048"/>
            <a:ext cx="6641316" cy="337021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marker"/>
          <p:cNvSpPr/>
          <p:nvPr/>
        </p:nvSpPr>
        <p:spPr>
          <a:xfrm>
            <a:off x="1341596" y="2877788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callout3"/>
          <p:cNvSpPr/>
          <p:nvPr/>
        </p:nvSpPr>
        <p:spPr>
          <a:xfrm>
            <a:off x="8275320" y="3236976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allout_text3"/>
          <p:cNvSpPr txBox="1"/>
          <p:nvPr/>
        </p:nvSpPr>
        <p:spPr>
          <a:xfrm>
            <a:off x="8275320" y="3236976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3. Добавить номер. Не больше 10 на службу, как в рекомендациях.</a:t>
            </a:r>
          </a:p>
        </p:txBody>
      </p:sp>
      <p:cxnSp>
        <p:nvCxnSpPr>
          <p:cNvPr id="35" name="arrow"/>
          <p:cNvCxnSpPr/>
          <p:nvPr/>
        </p:nvCxnSpPr>
        <p:spPr>
          <a:xfrm flipH="1">
            <a:off x="7065087" y="3694176"/>
            <a:ext cx="1210233" cy="83282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rker"/>
          <p:cNvSpPr/>
          <p:nvPr/>
        </p:nvSpPr>
        <p:spPr>
          <a:xfrm>
            <a:off x="6772846" y="3650970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ЗАДАНИЯ ФОРМИРУЕТ ИИ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7589520" cy="47434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480" y="6041898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Преподаватель задаёт группу и сложность. Карточки, оценку и советы ИИ делает сам.</a:t>
            </a:r>
          </a:p>
        </p:txBody>
      </p:sp>
      <p:sp>
        <p:nvSpPr>
          <p:cNvPr id="24" name="frame"/>
          <p:cNvSpPr/>
          <p:nvPr/>
        </p:nvSpPr>
        <p:spPr>
          <a:xfrm>
            <a:off x="411480" y="1188720"/>
            <a:ext cx="7589520" cy="4743450"/>
          </a:xfrm>
          <a:prstGeom prst="rect">
            <a:avLst/>
          </a:prstGeom>
          <a:noFill/>
          <a:ln w="12700">
            <a:solidFill>
              <a:srgbClr val="C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allout1"/>
          <p:cNvSpPr/>
          <p:nvPr/>
        </p:nvSpPr>
        <p:spPr>
          <a:xfrm>
            <a:off x="8275320" y="1188720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allout_text1"/>
          <p:cNvSpPr txBox="1"/>
          <p:nvPr/>
        </p:nvSpPr>
        <p:spPr>
          <a:xfrm>
            <a:off x="8275320" y="1188720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1. Как отвечают служба и бригада: предзаписанные реплики или свободная речь. Оба варианта без интернета.</a:t>
            </a:r>
          </a:p>
        </p:txBody>
      </p:sp>
      <p:cxnSp>
        <p:nvCxnSpPr>
          <p:cNvPr id="27" name="arrow"/>
          <p:cNvCxnSpPr/>
          <p:nvPr/>
        </p:nvCxnSpPr>
        <p:spPr>
          <a:xfrm flipH="1">
            <a:off x="6976663" y="1645920"/>
            <a:ext cx="1298657" cy="1201782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rker"/>
          <p:cNvSpPr/>
          <p:nvPr/>
        </p:nvSpPr>
        <p:spPr>
          <a:xfrm>
            <a:off x="6725412" y="2816123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callout2"/>
          <p:cNvSpPr/>
          <p:nvPr/>
        </p:nvSpPr>
        <p:spPr>
          <a:xfrm>
            <a:off x="8275320" y="2212848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callout_text2"/>
          <p:cNvSpPr txBox="1"/>
          <p:nvPr/>
        </p:nvSpPr>
        <p:spPr>
          <a:xfrm>
            <a:off x="8275320" y="2212848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2. Одна галочка. Дальше ИИ сам пишет карточки каждому обучаемому с учётом его прошлых ошибок.</a:t>
            </a:r>
          </a:p>
        </p:txBody>
      </p:sp>
      <p:cxnSp>
        <p:nvCxnSpPr>
          <p:cNvPr id="31" name="arrow"/>
          <p:cNvCxnSpPr/>
          <p:nvPr/>
        </p:nvCxnSpPr>
        <p:spPr>
          <a:xfrm flipH="1">
            <a:off x="2791504" y="2670048"/>
            <a:ext cx="5483816" cy="1402130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marker"/>
          <p:cNvSpPr/>
          <p:nvPr/>
        </p:nvSpPr>
        <p:spPr>
          <a:xfrm>
            <a:off x="2503741" y="3973525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callout3"/>
          <p:cNvSpPr/>
          <p:nvPr/>
        </p:nvSpPr>
        <p:spPr>
          <a:xfrm>
            <a:off x="8275320" y="3236976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allout_text3"/>
          <p:cNvSpPr txBox="1"/>
          <p:nvPr/>
        </p:nvSpPr>
        <p:spPr>
          <a:xfrm>
            <a:off x="8275320" y="3236976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3. За какую службу работает обучаемый. Если выбрано несколько, группа делится между службами.</a:t>
            </a:r>
          </a:p>
        </p:txBody>
      </p:sp>
      <p:cxnSp>
        <p:nvCxnSpPr>
          <p:cNvPr id="35" name="arrow"/>
          <p:cNvCxnSpPr/>
          <p:nvPr/>
        </p:nvCxnSpPr>
        <p:spPr>
          <a:xfrm flipH="1">
            <a:off x="6427200" y="3694176"/>
            <a:ext cx="1848120" cy="1091658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rker"/>
          <p:cNvSpPr/>
          <p:nvPr/>
        </p:nvSpPr>
        <p:spPr>
          <a:xfrm>
            <a:off x="6156198" y="4727733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callout4"/>
          <p:cNvSpPr/>
          <p:nvPr/>
        </p:nvSpPr>
        <p:spPr>
          <a:xfrm>
            <a:off x="8275320" y="4261104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callout_text4"/>
          <p:cNvSpPr txBox="1"/>
          <p:nvPr/>
        </p:nvSpPr>
        <p:spPr>
          <a:xfrm>
            <a:off x="8275320" y="4261104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4. Сложность 1, 2 или 3: без ошибок, одна ошибка оператора 112, ЧС с валом карточек.</a:t>
            </a:r>
          </a:p>
        </p:txBody>
      </p:sp>
      <p:cxnSp>
        <p:nvCxnSpPr>
          <p:cNvPr id="39" name="arrow"/>
          <p:cNvCxnSpPr/>
          <p:nvPr/>
        </p:nvCxnSpPr>
        <p:spPr>
          <a:xfrm flipH="1">
            <a:off x="4427224" y="4718304"/>
            <a:ext cx="3848096" cy="1063362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marker"/>
          <p:cNvSpPr/>
          <p:nvPr/>
        </p:nvSpPr>
        <p:spPr>
          <a:xfrm>
            <a:off x="4140231" y="5685910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ПРЕПОДАВАТЕЛЬ ВИДИТ ГРУППУ ВЖИВУЮ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7589520" cy="26563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480" y="3954780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Преподаватель не ходит между столами: всё на одном экране, обновляется в реальном времени.</a:t>
            </a:r>
          </a:p>
        </p:txBody>
      </p:sp>
      <p:sp>
        <p:nvSpPr>
          <p:cNvPr id="24" name="frame"/>
          <p:cNvSpPr/>
          <p:nvPr/>
        </p:nvSpPr>
        <p:spPr>
          <a:xfrm>
            <a:off x="411480" y="1188720"/>
            <a:ext cx="7589520" cy="2656332"/>
          </a:xfrm>
          <a:prstGeom prst="rect">
            <a:avLst/>
          </a:prstGeom>
          <a:noFill/>
          <a:ln w="12700">
            <a:solidFill>
              <a:srgbClr val="C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allout1"/>
          <p:cNvSpPr/>
          <p:nvPr/>
        </p:nvSpPr>
        <p:spPr>
          <a:xfrm>
            <a:off x="8275320" y="1188720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allout_text1"/>
          <p:cNvSpPr txBox="1"/>
          <p:nvPr/>
        </p:nvSpPr>
        <p:spPr>
          <a:xfrm>
            <a:off x="8275320" y="1188720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1. Отчёт по занятию: баллы, ошибки, советы по каждому. Выгружается в PDF и Excel.</a:t>
            </a:r>
          </a:p>
        </p:txBody>
      </p:sp>
      <p:cxnSp>
        <p:nvCxnSpPr>
          <p:cNvPr id="27" name="arrow"/>
          <p:cNvCxnSpPr/>
          <p:nvPr/>
        </p:nvCxnSpPr>
        <p:spPr>
          <a:xfrm flipH="1">
            <a:off x="6448786" y="1645920"/>
            <a:ext cx="1826534" cy="28914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rker"/>
          <p:cNvSpPr/>
          <p:nvPr/>
        </p:nvSpPr>
        <p:spPr>
          <a:xfrm>
            <a:off x="6156198" y="1540135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callout2"/>
          <p:cNvSpPr/>
          <p:nvPr/>
        </p:nvSpPr>
        <p:spPr>
          <a:xfrm>
            <a:off x="8275320" y="2212848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callout_text2"/>
          <p:cNvSpPr txBox="1"/>
          <p:nvPr/>
        </p:nvSpPr>
        <p:spPr>
          <a:xfrm>
            <a:off x="8275320" y="2212848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2. Сводка занятия: сколько в работе, сколько закончили, средний балл, просрочки прямо сейчас.</a:t>
            </a:r>
          </a:p>
        </p:txBody>
      </p:sp>
      <p:cxnSp>
        <p:nvCxnSpPr>
          <p:cNvPr id="31" name="arrow"/>
          <p:cNvCxnSpPr/>
          <p:nvPr/>
        </p:nvCxnSpPr>
        <p:spPr>
          <a:xfrm flipH="1" flipV="1">
            <a:off x="7151843" y="2282920"/>
            <a:ext cx="1123477" cy="387128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marker"/>
          <p:cNvSpPr/>
          <p:nvPr/>
        </p:nvSpPr>
        <p:spPr>
          <a:xfrm>
            <a:off x="6867715" y="2095119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callout3"/>
          <p:cNvSpPr/>
          <p:nvPr/>
        </p:nvSpPr>
        <p:spPr>
          <a:xfrm>
            <a:off x="8275320" y="3236976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allout_text3"/>
          <p:cNvSpPr txBox="1"/>
          <p:nvPr/>
        </p:nvSpPr>
        <p:spPr>
          <a:xfrm>
            <a:off x="8275320" y="3236976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3. Карточка каждого обучаемого: что делает, сколько закрыто и зачтено, последняя оценка.</a:t>
            </a:r>
          </a:p>
        </p:txBody>
      </p:sp>
      <p:cxnSp>
        <p:nvCxnSpPr>
          <p:cNvPr id="35" name="arrow"/>
          <p:cNvCxnSpPr/>
          <p:nvPr/>
        </p:nvCxnSpPr>
        <p:spPr>
          <a:xfrm flipH="1" flipV="1">
            <a:off x="5351011" y="2799534"/>
            <a:ext cx="2924309" cy="894642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rker"/>
          <p:cNvSpPr/>
          <p:nvPr/>
        </p:nvSpPr>
        <p:spPr>
          <a:xfrm>
            <a:off x="5065204" y="2616898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ИИ ОЦЕНИВАЕТ И ДАЁТ СОВЕТЫ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88720"/>
            <a:ext cx="7589520" cy="42691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480" y="5567553"/>
            <a:ext cx="7589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Разбор понятен без преподавателя: что сделано верно, где ошибка и что делать дальше.</a:t>
            </a:r>
          </a:p>
        </p:txBody>
      </p:sp>
      <p:sp>
        <p:nvSpPr>
          <p:cNvPr id="24" name="frame"/>
          <p:cNvSpPr/>
          <p:nvPr/>
        </p:nvSpPr>
        <p:spPr>
          <a:xfrm>
            <a:off x="411480" y="1188720"/>
            <a:ext cx="7589520" cy="4269105"/>
          </a:xfrm>
          <a:prstGeom prst="rect">
            <a:avLst/>
          </a:prstGeom>
          <a:noFill/>
          <a:ln w="12700">
            <a:solidFill>
              <a:srgbClr val="C8C2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allout1"/>
          <p:cNvSpPr/>
          <p:nvPr/>
        </p:nvSpPr>
        <p:spPr>
          <a:xfrm>
            <a:off x="8275320" y="1188720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allout_text1"/>
          <p:cNvSpPr txBox="1"/>
          <p:nvPr/>
        </p:nvSpPr>
        <p:spPr>
          <a:xfrm>
            <a:off x="8275320" y="1188720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1. Итоговый балл из 100 и решение: зачтено или нет. Порог задаёт преподаватель.</a:t>
            </a:r>
          </a:p>
        </p:txBody>
      </p:sp>
      <p:cxnSp>
        <p:nvCxnSpPr>
          <p:cNvPr id="27" name="arrow"/>
          <p:cNvCxnSpPr/>
          <p:nvPr/>
        </p:nvCxnSpPr>
        <p:spPr>
          <a:xfrm flipH="1">
            <a:off x="5974325" y="1645920"/>
            <a:ext cx="2300995" cy="96044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rker"/>
          <p:cNvSpPr/>
          <p:nvPr/>
        </p:nvSpPr>
        <p:spPr>
          <a:xfrm>
            <a:off x="5681853" y="1611287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callout2"/>
          <p:cNvSpPr/>
          <p:nvPr/>
        </p:nvSpPr>
        <p:spPr>
          <a:xfrm>
            <a:off x="8275320" y="2212848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callout_text2"/>
          <p:cNvSpPr txBox="1"/>
          <p:nvPr/>
        </p:nvSpPr>
        <p:spPr>
          <a:xfrm>
            <a:off x="8275320" y="2212848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2. Составляющие: решение, время, цепочка статусов, комментарии, типичные ошибки, грамотность.</a:t>
            </a:r>
          </a:p>
        </p:txBody>
      </p:sp>
      <p:cxnSp>
        <p:nvCxnSpPr>
          <p:cNvPr id="31" name="arrow"/>
          <p:cNvCxnSpPr/>
          <p:nvPr/>
        </p:nvCxnSpPr>
        <p:spPr>
          <a:xfrm flipH="1" flipV="1">
            <a:off x="7112737" y="2618624"/>
            <a:ext cx="1162583" cy="51424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marker"/>
          <p:cNvSpPr/>
          <p:nvPr/>
        </p:nvSpPr>
        <p:spPr>
          <a:xfrm>
            <a:off x="6820281" y="2474595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callout3"/>
          <p:cNvSpPr/>
          <p:nvPr/>
        </p:nvSpPr>
        <p:spPr>
          <a:xfrm>
            <a:off x="8275320" y="3236976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allout_text3"/>
          <p:cNvSpPr txBox="1"/>
          <p:nvPr/>
        </p:nvSpPr>
        <p:spPr>
          <a:xfrm>
            <a:off x="8275320" y="3236976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3. Советы для дальнейшего обучения: что именно подтянуть. По ним ИИ подбирает следующее задание.</a:t>
            </a:r>
          </a:p>
        </p:txBody>
      </p:sp>
      <p:cxnSp>
        <p:nvCxnSpPr>
          <p:cNvPr id="35" name="arrow"/>
          <p:cNvCxnSpPr/>
          <p:nvPr/>
        </p:nvCxnSpPr>
        <p:spPr>
          <a:xfrm flipH="1" flipV="1">
            <a:off x="7110601" y="3492143"/>
            <a:ext cx="1164719" cy="202033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marker"/>
          <p:cNvSpPr/>
          <p:nvPr/>
        </p:nvSpPr>
        <p:spPr>
          <a:xfrm>
            <a:off x="6820281" y="3328416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callout4"/>
          <p:cNvSpPr/>
          <p:nvPr/>
        </p:nvSpPr>
        <p:spPr>
          <a:xfrm>
            <a:off x="8275320" y="4261104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callout_text4"/>
          <p:cNvSpPr txBox="1"/>
          <p:nvPr/>
        </p:nvSpPr>
        <p:spPr>
          <a:xfrm>
            <a:off x="8275320" y="4261104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4. Каждая ошибка названа словами памятки заказчика, со ссылкой на страницу.</a:t>
            </a:r>
          </a:p>
        </p:txBody>
      </p:sp>
      <p:cxnSp>
        <p:nvCxnSpPr>
          <p:cNvPr id="39" name="arrow"/>
          <p:cNvCxnSpPr/>
          <p:nvPr/>
        </p:nvCxnSpPr>
        <p:spPr>
          <a:xfrm flipH="1" flipV="1">
            <a:off x="6967321" y="4445953"/>
            <a:ext cx="1307999" cy="272351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marker"/>
          <p:cNvSpPr/>
          <p:nvPr/>
        </p:nvSpPr>
        <p:spPr>
          <a:xfrm>
            <a:off x="6677977" y="4277105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1" name="callout5"/>
          <p:cNvSpPr/>
          <p:nvPr/>
        </p:nvSpPr>
        <p:spPr>
          <a:xfrm>
            <a:off x="8275320" y="5285232"/>
            <a:ext cx="35204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FF00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callout_text5"/>
          <p:cNvSpPr txBox="1"/>
          <p:nvPr/>
        </p:nvSpPr>
        <p:spPr>
          <a:xfrm>
            <a:off x="8275320" y="5285232"/>
            <a:ext cx="3520440" cy="9144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1300" b="0">
                <a:solidFill>
                  <a:srgbClr val="2D1451"/>
                </a:solidFill>
              </a:rPr>
              <a:t>5. Эталон рядом с действиями обучаемого: видно, где отклонился.</a:t>
            </a:r>
          </a:p>
        </p:txBody>
      </p:sp>
      <p:cxnSp>
        <p:nvCxnSpPr>
          <p:cNvPr id="43" name="arrow"/>
          <p:cNvCxnSpPr/>
          <p:nvPr/>
        </p:nvCxnSpPr>
        <p:spPr>
          <a:xfrm flipH="1" flipV="1">
            <a:off x="4357627" y="4829037"/>
            <a:ext cx="3917693" cy="913395"/>
          </a:xfrm>
          <a:prstGeom prst="line">
            <a:avLst/>
          </a:prstGeom>
          <a:ln w="28575">
            <a:solidFill>
              <a:srgbClr val="FF005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marker"/>
          <p:cNvSpPr/>
          <p:nvPr/>
        </p:nvSpPr>
        <p:spPr>
          <a:xfrm>
            <a:off x="4069080" y="4656582"/>
            <a:ext cx="274320" cy="274320"/>
          </a:xfrm>
          <a:prstGeom prst="ellipse">
            <a:avLst/>
          </a:prstGeom>
          <a:solidFill>
            <a:srgbClr val="FF005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