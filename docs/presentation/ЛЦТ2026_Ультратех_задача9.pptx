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96" r:id="rId46"/>
    <p:sldId id="294" r:id="rId44"/>
    <p:sldId id="270" r:id="rId20"/>
    <p:sldId id="271" r:id="rId21"/>
    <p:sldId id="274" r:id="rId24"/>
    <p:sldId id="275" r:id="rId25"/>
    <p:sldId id="276" r:id="rId26"/>
    <p:sldId id="297" r:id="rId47"/>
    <p:sldId id="280" r:id="rId30"/>
    <p:sldId id="295" r:id="rId45"/>
    <p:sldId id="279" r:id="rId29"/>
    <p:sldId id="278" r:id="rId28"/>
    <p:sldId id="281" r:id="rId31"/>
    <p:sldId id="298" r:id="rId48"/>
    <p:sldId id="299" r:id="rId49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6.xml"/><Relationship Id="rId29" Type="http://schemas.openxmlformats.org/officeDocument/2006/relationships/slide" Target="slides/slide25.xml"/><Relationship Id="rId30" Type="http://schemas.openxmlformats.org/officeDocument/2006/relationships/slide" Target="slides/slide23.xml"/><Relationship Id="rId31" Type="http://schemas.openxmlformats.org/officeDocument/2006/relationships/slide" Target="slides/slide27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16.xml"/><Relationship Id="rId45" Type="http://schemas.openxmlformats.org/officeDocument/2006/relationships/slide" Target="slides/slide24.xml"/><Relationship Id="rId46" Type="http://schemas.openxmlformats.org/officeDocument/2006/relationships/slide" Target="slides/slide15.xml"/><Relationship Id="rId47" Type="http://schemas.openxmlformats.org/officeDocument/2006/relationships/slide" Target="slides/slide22.xml"/><Relationship Id="rId48" Type="http://schemas.openxmlformats.org/officeDocument/2006/relationships/slide" Target="slides/slide28.xml"/><Relationship Id="rId4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7" name="Google Shape;2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5" name="Google Shape;25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3" name="Google Shape;273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2" name="Google Shape;29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5" name="Google Shape;3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1" name="Google Shape;33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2" name="Google Shape;35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5" name="Google Shape;37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1" name="Google Shape;4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4" name="Google Shape;42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0" name="Google Shape;4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4" name="Google Shape;4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7" name="Google Shape;51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1" name="Google Shape;531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7" name="Google Shape;56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1" name="Google Shape;58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5" name="Google Shape;595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3" name="Google Shape;613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7" name="Google Shape;627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41" name="Google Shape;641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5" name="Google Shape;655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7" name="Google Shape;66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1" name="Google Shape;68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7" name="Google Shape;697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3" name="Google Shape;713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5" name="Google Shape;765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3" name="Google Shape;783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8" name="Google Shape;808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4" name="Google Shape;82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6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8" name="Google Shape;838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4" name="Google Shape;854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7" name="Google Shape;867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>
  <p:cSld name="Титульный слай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0" y="5149851"/>
            <a:ext cx="8930641" cy="757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Описание команды">
  <p:cSld name="1_Описание команды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>
            <p:ph idx="2" type="pic"/>
          </p:nvPr>
        </p:nvSpPr>
        <p:spPr>
          <a:xfrm>
            <a:off x="6894095" y="1044081"/>
            <a:ext cx="4962943" cy="2221824"/>
          </a:xfrm>
          <a:prstGeom prst="rect">
            <a:avLst/>
          </a:prstGeom>
          <a:noFill/>
          <a:ln>
            <a:noFill/>
          </a:ln>
        </p:spPr>
      </p:sp>
      <p:sp>
        <p:nvSpPr>
          <p:cNvPr id="20" name="Google Shape;20;p3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оманда">
  <p:cSld name="Команда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" name="Google Shape;25;p4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2" type="body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3" type="body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4" type="body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5" type="body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одержание_1">
  <p:cSld name="Содержание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1873541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1873544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3" type="body"/>
          </p:nvPr>
        </p:nvSpPr>
        <p:spPr>
          <a:xfrm>
            <a:off x="1854185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4" type="body"/>
          </p:nvPr>
        </p:nvSpPr>
        <p:spPr>
          <a:xfrm>
            <a:off x="1854185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5" type="body"/>
          </p:nvPr>
        </p:nvSpPr>
        <p:spPr>
          <a:xfrm>
            <a:off x="1854185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6" type="body"/>
          </p:nvPr>
        </p:nvSpPr>
        <p:spPr>
          <a:xfrm>
            <a:off x="1854185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7" type="body"/>
          </p:nvPr>
        </p:nvSpPr>
        <p:spPr>
          <a:xfrm>
            <a:off x="7546648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8" type="body"/>
          </p:nvPr>
        </p:nvSpPr>
        <p:spPr>
          <a:xfrm>
            <a:off x="7546651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9" type="body"/>
          </p:nvPr>
        </p:nvSpPr>
        <p:spPr>
          <a:xfrm>
            <a:off x="7527292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3" type="body"/>
          </p:nvPr>
        </p:nvSpPr>
        <p:spPr>
          <a:xfrm>
            <a:off x="7527292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4" type="body"/>
          </p:nvPr>
        </p:nvSpPr>
        <p:spPr>
          <a:xfrm>
            <a:off x="7527292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5" type="body"/>
          </p:nvPr>
        </p:nvSpPr>
        <p:spPr>
          <a:xfrm>
            <a:off x="7527292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6" type="body"/>
          </p:nvPr>
        </p:nvSpPr>
        <p:spPr>
          <a:xfrm>
            <a:off x="778493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7" type="body"/>
          </p:nvPr>
        </p:nvSpPr>
        <p:spPr>
          <a:xfrm>
            <a:off x="759137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8" type="body"/>
          </p:nvPr>
        </p:nvSpPr>
        <p:spPr>
          <a:xfrm>
            <a:off x="759137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19" type="body"/>
          </p:nvPr>
        </p:nvSpPr>
        <p:spPr>
          <a:xfrm>
            <a:off x="6451600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20" type="body"/>
          </p:nvPr>
        </p:nvSpPr>
        <p:spPr>
          <a:xfrm>
            <a:off x="6432244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21" type="body"/>
          </p:nvPr>
        </p:nvSpPr>
        <p:spPr>
          <a:xfrm>
            <a:off x="6432244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блема и решение">
  <p:cSld name="Проблема и решение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8" name="Google Shape;58;p6"/>
          <p:cNvSpPr txBox="1"/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6"/>
          <p:cNvSpPr/>
          <p:nvPr>
            <p:ph idx="1" type="body"/>
          </p:nvPr>
        </p:nvSpPr>
        <p:spPr>
          <a:xfrm>
            <a:off x="517027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6"/>
          <p:cNvSpPr/>
          <p:nvPr>
            <p:ph idx="2" type="body"/>
          </p:nvPr>
        </p:nvSpPr>
        <p:spPr>
          <a:xfrm>
            <a:off x="4464542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6"/>
          <p:cNvSpPr/>
          <p:nvPr>
            <p:ph idx="3" type="body"/>
          </p:nvPr>
        </p:nvSpPr>
        <p:spPr>
          <a:xfrm>
            <a:off x="8385481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6"/>
          <p:cNvSpPr/>
          <p:nvPr>
            <p:ph idx="4" type="body"/>
          </p:nvPr>
        </p:nvSpPr>
        <p:spPr>
          <a:xfrm>
            <a:off x="517027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6"/>
          <p:cNvSpPr/>
          <p:nvPr>
            <p:ph idx="5" type="body"/>
          </p:nvPr>
        </p:nvSpPr>
        <p:spPr>
          <a:xfrm>
            <a:off x="4464542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6"/>
          <p:cNvSpPr/>
          <p:nvPr>
            <p:ph idx="6" type="body"/>
          </p:nvPr>
        </p:nvSpPr>
        <p:spPr>
          <a:xfrm>
            <a:off x="8385481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нкты">
  <p:cSld name="Пункты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7"/>
          <p:cNvSpPr txBox="1"/>
          <p:nvPr>
            <p:ph idx="1" type="body"/>
          </p:nvPr>
        </p:nvSpPr>
        <p:spPr>
          <a:xfrm>
            <a:off x="1994303" y="2973742"/>
            <a:ext cx="2190810" cy="910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7"/>
          <p:cNvSpPr txBox="1"/>
          <p:nvPr>
            <p:ph idx="2" type="body"/>
          </p:nvPr>
        </p:nvSpPr>
        <p:spPr>
          <a:xfrm>
            <a:off x="6662924" y="158812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"/>
          <p:cNvSpPr txBox="1"/>
          <p:nvPr>
            <p:ph idx="3" type="body"/>
          </p:nvPr>
        </p:nvSpPr>
        <p:spPr>
          <a:xfrm>
            <a:off x="6662924" y="244513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7"/>
          <p:cNvSpPr txBox="1"/>
          <p:nvPr>
            <p:ph idx="4" type="body"/>
          </p:nvPr>
        </p:nvSpPr>
        <p:spPr>
          <a:xfrm>
            <a:off x="6662924" y="3302147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7"/>
          <p:cNvSpPr txBox="1"/>
          <p:nvPr>
            <p:ph idx="5" type="body"/>
          </p:nvPr>
        </p:nvSpPr>
        <p:spPr>
          <a:xfrm>
            <a:off x="6662924" y="415915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7"/>
          <p:cNvSpPr txBox="1"/>
          <p:nvPr>
            <p:ph idx="6" type="body"/>
          </p:nvPr>
        </p:nvSpPr>
        <p:spPr>
          <a:xfrm>
            <a:off x="6662924" y="501616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дии">
  <p:cSld name="Стадии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9" name="Google Shape;79;p8"/>
          <p:cNvSpPr/>
          <p:nvPr>
            <p:ph idx="1" type="body"/>
          </p:nvPr>
        </p:nvSpPr>
        <p:spPr>
          <a:xfrm>
            <a:off x="346075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8"/>
          <p:cNvSpPr txBox="1"/>
          <p:nvPr>
            <p:ph idx="2" type="body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8"/>
          <p:cNvSpPr/>
          <p:nvPr>
            <p:ph idx="3" type="body"/>
          </p:nvPr>
        </p:nvSpPr>
        <p:spPr>
          <a:xfrm>
            <a:off x="4832960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8"/>
          <p:cNvSpPr txBox="1"/>
          <p:nvPr>
            <p:ph idx="4" type="body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8"/>
          <p:cNvSpPr/>
          <p:nvPr>
            <p:ph idx="5" type="body"/>
          </p:nvPr>
        </p:nvSpPr>
        <p:spPr>
          <a:xfrm>
            <a:off x="9330862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8"/>
          <p:cNvSpPr txBox="1"/>
          <p:nvPr>
            <p:ph idx="6" type="body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8"/>
          <p:cNvSpPr/>
          <p:nvPr>
            <p:ph idx="7" type="body"/>
          </p:nvPr>
        </p:nvSpPr>
        <p:spPr>
          <a:xfrm>
            <a:off x="2593517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8"/>
          <p:cNvSpPr txBox="1"/>
          <p:nvPr>
            <p:ph idx="8" type="body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8"/>
          <p:cNvSpPr/>
          <p:nvPr>
            <p:ph idx="9" type="body"/>
          </p:nvPr>
        </p:nvSpPr>
        <p:spPr>
          <a:xfrm>
            <a:off x="7080402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8"/>
          <p:cNvSpPr txBox="1"/>
          <p:nvPr>
            <p:ph idx="13" type="body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8"/>
          <p:cNvSpPr txBox="1"/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емо_1">
  <p:cSld name="Демо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9"/>
          <p:cNvSpPr/>
          <p:nvPr>
            <p:ph idx="2" type="pic"/>
          </p:nvPr>
        </p:nvSpPr>
        <p:spPr>
          <a:xfrm>
            <a:off x="4162940" y="1264478"/>
            <a:ext cx="3866121" cy="2436377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5" name="Google Shape;95;p9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9"/>
          <p:cNvSpPr txBox="1"/>
          <p:nvPr>
            <p:ph idx="1" type="body"/>
          </p:nvPr>
        </p:nvSpPr>
        <p:spPr>
          <a:xfrm>
            <a:off x="346075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9"/>
          <p:cNvSpPr txBox="1"/>
          <p:nvPr>
            <p:ph idx="3" type="body"/>
          </p:nvPr>
        </p:nvSpPr>
        <p:spPr>
          <a:xfrm>
            <a:off x="4240502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4" type="body"/>
          </p:nvPr>
        </p:nvSpPr>
        <p:spPr>
          <a:xfrm>
            <a:off x="8230203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 заголовком">
  <p:cSld name="Пустой с заголовком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1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Char char="•"/>
              <a:defRPr>
                <a:solidFill>
                  <a:srgbClr val="F2F2F2"/>
                </a:solidFill>
              </a:defRPr>
            </a:lvl1pPr>
            <a:lvl2pPr indent="-309309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Char char="•"/>
              <a:defRPr>
                <a:solidFill>
                  <a:srgbClr val="F2F2F2"/>
                </a:solidFill>
              </a:defRPr>
            </a:lvl2pPr>
            <a:lvl3pPr indent="-29191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Char char="•"/>
              <a:defRPr>
                <a:solidFill>
                  <a:srgbClr val="F2F2F2"/>
                </a:solidFill>
              </a:defRPr>
            </a:lvl3pPr>
            <a:lvl4pPr indent="-286195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4pPr>
            <a:lvl5pPr indent="-286195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08" name="Google Shape;108;p11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15387" y="1016001"/>
            <a:ext cx="5704418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12"/>
          <p:cNvSpPr txBox="1"/>
          <p:nvPr>
            <p:ph idx="2" type="body"/>
          </p:nvPr>
        </p:nvSpPr>
        <p:spPr>
          <a:xfrm>
            <a:off x="6172206" y="1016001"/>
            <a:ext cx="5670473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12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2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15" name="Google Shape;115;p12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>
  <p:cSld name="Сравнение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 txBox="1"/>
          <p:nvPr>
            <p:ph idx="1" type="body"/>
          </p:nvPr>
        </p:nvSpPr>
        <p:spPr>
          <a:xfrm>
            <a:off x="315386" y="1015427"/>
            <a:ext cx="5682193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118" name="Google Shape;118;p13"/>
          <p:cNvSpPr txBox="1"/>
          <p:nvPr>
            <p:ph idx="2" type="body"/>
          </p:nvPr>
        </p:nvSpPr>
        <p:spPr>
          <a:xfrm>
            <a:off x="349334" y="1598615"/>
            <a:ext cx="5648250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3"/>
          <p:cNvSpPr txBox="1"/>
          <p:nvPr>
            <p:ph idx="3" type="body"/>
          </p:nvPr>
        </p:nvSpPr>
        <p:spPr>
          <a:xfrm>
            <a:off x="6172205" y="1015427"/>
            <a:ext cx="5684841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120" name="Google Shape;120;p13"/>
          <p:cNvSpPr txBox="1"/>
          <p:nvPr>
            <p:ph idx="4" type="body"/>
          </p:nvPr>
        </p:nvSpPr>
        <p:spPr>
          <a:xfrm>
            <a:off x="6172202" y="1598615"/>
            <a:ext cx="5670473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13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3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p13"/>
          <p:cNvSpPr txBox="1"/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5"/>
          <p:cNvSpPr txBox="1"/>
          <p:nvPr>
            <p:ph type="title"/>
          </p:nvPr>
        </p:nvSpPr>
        <p:spPr>
          <a:xfrm>
            <a:off x="334966" y="1015999"/>
            <a:ext cx="4437062" cy="121341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Font typeface="Montserrat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5"/>
          <p:cNvSpPr txBox="1"/>
          <p:nvPr>
            <p:ph idx="1" type="body"/>
          </p:nvPr>
        </p:nvSpPr>
        <p:spPr>
          <a:xfrm>
            <a:off x="5183194" y="1015999"/>
            <a:ext cx="6673847" cy="5049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1186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773"/>
              <a:buChar char="•"/>
              <a:defRPr sz="1773"/>
            </a:lvl1pPr>
            <a:lvl2pPr indent="-32512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520"/>
              <a:buChar char="•"/>
              <a:defRPr sz="1520"/>
            </a:lvl2pPr>
            <a:lvl3pPr indent="-308991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Char char="•"/>
              <a:defRPr sz="1266"/>
            </a:lvl3pPr>
            <a:lvl4pPr indent="-301054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4pPr>
            <a:lvl5pPr indent="-301054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5pPr>
            <a:lvl6pPr indent="-308991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6pPr>
            <a:lvl7pPr indent="-308991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7pPr>
            <a:lvl8pPr indent="-308991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8pPr>
            <a:lvl9pPr indent="-308991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9pPr>
          </a:lstStyle>
          <a:p/>
        </p:txBody>
      </p:sp>
      <p:sp>
        <p:nvSpPr>
          <p:cNvPr id="132" name="Google Shape;132;p15"/>
          <p:cNvSpPr txBox="1"/>
          <p:nvPr>
            <p:ph idx="2" type="body"/>
          </p:nvPr>
        </p:nvSpPr>
        <p:spPr>
          <a:xfrm>
            <a:off x="334966" y="2428239"/>
            <a:ext cx="4437062" cy="363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886"/>
              <a:buNone/>
              <a:defRPr sz="88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760"/>
              <a:buNone/>
              <a:defRPr sz="760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9pPr>
          </a:lstStyle>
          <a:p/>
        </p:txBody>
      </p:sp>
      <p:sp>
        <p:nvSpPr>
          <p:cNvPr id="133" name="Google Shape;133;p1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>
  <p:cSld name="Рисунок с подписью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6"/>
          <p:cNvSpPr txBox="1"/>
          <p:nvPr>
            <p:ph type="ctrTitle"/>
          </p:nvPr>
        </p:nvSpPr>
        <p:spPr>
          <a:xfrm>
            <a:off x="802640" y="3922529"/>
            <a:ext cx="5293359" cy="16545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1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графии">
  <p:cSld name="Фотографии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5" name="Google Shape;145;p17"/>
          <p:cNvSpPr txBox="1"/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17"/>
          <p:cNvSpPr/>
          <p:nvPr>
            <p:ph idx="2" type="pic"/>
          </p:nvPr>
        </p:nvSpPr>
        <p:spPr>
          <a:xfrm>
            <a:off x="7440147" y="1016001"/>
            <a:ext cx="4405777" cy="3078479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7"/>
          <p:cNvSpPr/>
          <p:nvPr>
            <p:ph idx="3" type="pic"/>
          </p:nvPr>
        </p:nvSpPr>
        <p:spPr>
          <a:xfrm>
            <a:off x="7440149" y="4389108"/>
            <a:ext cx="4405775" cy="1811668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17"/>
          <p:cNvSpPr/>
          <p:nvPr>
            <p:ph idx="4" type="pic"/>
          </p:nvPr>
        </p:nvSpPr>
        <p:spPr>
          <a:xfrm>
            <a:off x="346075" y="3223948"/>
            <a:ext cx="6806142" cy="2976827"/>
          </a:xfrm>
          <a:prstGeom prst="rect">
            <a:avLst/>
          </a:prstGeom>
          <a:noFill/>
          <a:ln>
            <a:noFill/>
          </a:ln>
        </p:spPr>
      </p:sp>
      <p:sp>
        <p:nvSpPr>
          <p:cNvPr id="149" name="Google Shape;149;p17"/>
          <p:cNvSpPr txBox="1"/>
          <p:nvPr>
            <p:ph idx="1" type="body"/>
          </p:nvPr>
        </p:nvSpPr>
        <p:spPr>
          <a:xfrm>
            <a:off x="346075" y="1016001"/>
            <a:ext cx="6806142" cy="2029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тистика">
  <p:cSld name="Статистика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4" name="Google Shape;154;p18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18"/>
          <p:cNvSpPr/>
          <p:nvPr>
            <p:ph idx="1" type="body"/>
          </p:nvPr>
        </p:nvSpPr>
        <p:spPr>
          <a:xfrm>
            <a:off x="6683077" y="1026867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18"/>
          <p:cNvSpPr txBox="1"/>
          <p:nvPr>
            <p:ph idx="2" type="body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18"/>
          <p:cNvSpPr/>
          <p:nvPr>
            <p:ph idx="3" type="body"/>
          </p:nvPr>
        </p:nvSpPr>
        <p:spPr>
          <a:xfrm>
            <a:off x="6683077" y="2807582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18"/>
          <p:cNvSpPr txBox="1"/>
          <p:nvPr>
            <p:ph idx="4" type="body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18"/>
          <p:cNvSpPr/>
          <p:nvPr>
            <p:ph idx="5" type="body"/>
          </p:nvPr>
        </p:nvSpPr>
        <p:spPr>
          <a:xfrm>
            <a:off x="6683077" y="4584029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0" name="Google Shape;160;p18"/>
          <p:cNvSpPr txBox="1"/>
          <p:nvPr>
            <p:ph idx="6" type="body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татистика">
  <p:cSld name="1_Статистика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1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1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5" name="Google Shape;165;p19"/>
          <p:cNvSpPr txBox="1"/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9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19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19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19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19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19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19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3" name="Google Shape;173;p19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татистика">
  <p:cSld name="2_Статистика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8" name="Google Shape;178;p20"/>
          <p:cNvSpPr txBox="1"/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0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0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0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2" name="Google Shape;182;p20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p20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0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20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20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Демо_1">
  <p:cSld name="1_Демо_1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2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91" name="Google Shape;191;p21"/>
          <p:cNvSpPr txBox="1"/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body"/>
          </p:nvPr>
        </p:nvSpPr>
        <p:spPr>
          <a:xfrm>
            <a:off x="1210643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3" name="Google Shape;193;p21"/>
          <p:cNvSpPr txBox="1"/>
          <p:nvPr>
            <p:ph idx="2" type="body"/>
          </p:nvPr>
        </p:nvSpPr>
        <p:spPr>
          <a:xfrm>
            <a:off x="6857950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p21"/>
          <p:cNvSpPr/>
          <p:nvPr>
            <p:ph idx="3" type="pic"/>
          </p:nvPr>
        </p:nvSpPr>
        <p:spPr>
          <a:xfrm>
            <a:off x="1210642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  <p:sp>
        <p:nvSpPr>
          <p:cNvPr id="195" name="Google Shape;195;p21"/>
          <p:cNvSpPr/>
          <p:nvPr>
            <p:ph idx="4" type="pic"/>
          </p:nvPr>
        </p:nvSpPr>
        <p:spPr>
          <a:xfrm>
            <a:off x="6855540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Демо_1">
  <p:cSld name="2_Демо_1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2"/>
          <p:cNvSpPr/>
          <p:nvPr>
            <p:ph idx="2" type="pic"/>
          </p:nvPr>
        </p:nvSpPr>
        <p:spPr>
          <a:xfrm>
            <a:off x="5009872" y="1235915"/>
            <a:ext cx="2172255" cy="4602697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98" name="Google Shape;198;p22"/>
          <p:cNvSpPr/>
          <p:nvPr>
            <p:ph idx="1" type="body"/>
          </p:nvPr>
        </p:nvSpPr>
        <p:spPr>
          <a:xfrm>
            <a:off x="356349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3" type="body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22"/>
          <p:cNvSpPr/>
          <p:nvPr>
            <p:ph idx="4" type="body"/>
          </p:nvPr>
        </p:nvSpPr>
        <p:spPr>
          <a:xfrm>
            <a:off x="8040021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E4B4FB"/>
              </a:buClr>
              <a:buSzPts val="1800"/>
              <a:buChar char="•"/>
              <a:defRPr b="1" sz="1800">
                <a:solidFill>
                  <a:srgbClr val="E4B4F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22"/>
          <p:cNvSpPr txBox="1"/>
          <p:nvPr>
            <p:ph idx="5" type="body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2" name="Google Shape;202;p22"/>
          <p:cNvSpPr/>
          <p:nvPr>
            <p:ph idx="6" type="body"/>
          </p:nvPr>
        </p:nvSpPr>
        <p:spPr>
          <a:xfrm>
            <a:off x="356349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22"/>
          <p:cNvSpPr txBox="1"/>
          <p:nvPr>
            <p:ph idx="7" type="body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22"/>
          <p:cNvSpPr/>
          <p:nvPr>
            <p:ph idx="8" type="body"/>
          </p:nvPr>
        </p:nvSpPr>
        <p:spPr>
          <a:xfrm>
            <a:off x="8040021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22"/>
          <p:cNvSpPr txBox="1"/>
          <p:nvPr>
            <p:ph idx="9" type="body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06" name="Google Shape;206;p22"/>
          <p:cNvCxnSpPr/>
          <p:nvPr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7" name="Google Shape;207;p22"/>
          <p:cNvCxnSpPr/>
          <p:nvPr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8" name="Google Shape;208;p22"/>
          <p:cNvCxnSpPr/>
          <p:nvPr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rgbClr val="E4B4F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9" name="Google Shape;209;p22"/>
          <p:cNvCxnSpPr/>
          <p:nvPr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22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22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22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2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Демо_1">
  <p:cSld name="3_Демо_1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"/>
          <p:cNvSpPr/>
          <p:nvPr>
            <p:ph idx="2" type="pic"/>
          </p:nvPr>
        </p:nvSpPr>
        <p:spPr>
          <a:xfrm>
            <a:off x="1001460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216" name="Google Shape;216;p23"/>
          <p:cNvSpPr/>
          <p:nvPr>
            <p:ph idx="3" type="pic"/>
          </p:nvPr>
        </p:nvSpPr>
        <p:spPr>
          <a:xfrm>
            <a:off x="3831097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217" name="Google Shape;217;p23"/>
          <p:cNvSpPr/>
          <p:nvPr>
            <p:ph idx="4" type="pic"/>
          </p:nvPr>
        </p:nvSpPr>
        <p:spPr>
          <a:xfrm>
            <a:off x="6660734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218" name="Google Shape;218;p23"/>
          <p:cNvSpPr/>
          <p:nvPr>
            <p:ph idx="5" type="pic"/>
          </p:nvPr>
        </p:nvSpPr>
        <p:spPr>
          <a:xfrm>
            <a:off x="9490368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219" name="Google Shape;219;p23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23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2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22" name="Google Shape;222;p23"/>
          <p:cNvSpPr txBox="1"/>
          <p:nvPr>
            <p:ph idx="1" type="body"/>
          </p:nvPr>
        </p:nvSpPr>
        <p:spPr>
          <a:xfrm>
            <a:off x="346076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3" name="Google Shape;223;p23"/>
          <p:cNvSpPr txBox="1"/>
          <p:nvPr>
            <p:ph idx="6" type="body"/>
          </p:nvPr>
        </p:nvSpPr>
        <p:spPr>
          <a:xfrm>
            <a:off x="3269562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23"/>
          <p:cNvSpPr txBox="1"/>
          <p:nvPr>
            <p:ph idx="7" type="body"/>
          </p:nvPr>
        </p:nvSpPr>
        <p:spPr>
          <a:xfrm>
            <a:off x="6193048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5" name="Google Shape;225;p23"/>
          <p:cNvSpPr txBox="1"/>
          <p:nvPr>
            <p:ph idx="8" type="body"/>
          </p:nvPr>
        </p:nvSpPr>
        <p:spPr>
          <a:xfrm>
            <a:off x="9116535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6" name="Google Shape;226;p23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">
  <p:cSld name="Пустой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 b="1" i="0" sz="1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Font typeface="Arial"/>
              <a:buChar char="•"/>
              <a:defRPr b="0" i="0" sz="1452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09309" lvl="1" marL="914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Font typeface="Arial"/>
              <a:buChar char="•"/>
              <a:defRPr b="0" i="0" sz="1271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1910" lvl="2" marL="1371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Font typeface="Arial"/>
              <a:buChar char="•"/>
              <a:defRPr b="0" i="0" sz="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86195" lvl="3" marL="1828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86195" lvl="4" marL="22860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01054" lvl="5" marL="27432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01054" lvl="6" marL="3200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01053" lvl="7" marL="3657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01053" lvl="8" marL="4114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156">
          <p15:clr>
            <a:srgbClr val="F26B43"/>
          </p15:clr>
        </p15:guide>
        <p15:guide id="2" orient="horz" pos="482">
          <p15:clr>
            <a:srgbClr val="F26B43"/>
          </p15:clr>
        </p15:guide>
        <p15:guide id="3" pos="218">
          <p15:clr>
            <a:srgbClr val="F26B43"/>
          </p15:clr>
        </p15:guide>
        <p15:guide id="4" pos="7469">
          <p15:clr>
            <a:srgbClr val="F26B43"/>
          </p15:clr>
        </p15:guide>
        <p15:guide id="5" orient="horz" pos="249">
          <p15:clr>
            <a:srgbClr val="F26B43"/>
          </p15:clr>
        </p15:guide>
        <p15:guide id="6" orient="horz" pos="4042">
          <p15:clr>
            <a:srgbClr val="F26B43"/>
          </p15:clr>
        </p15:guide>
        <p15:guide id="7" orient="horz" pos="3906">
          <p15:clr>
            <a:srgbClr val="F26B43"/>
          </p15:clr>
        </p15:guide>
        <p15:guide id="8" orient="horz" pos="640">
          <p15:clr>
            <a:srgbClr val="F26B43"/>
          </p15:clr>
        </p15:guide>
        <p15:guide id="9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hyperlink" Target="http://lidozvon.ru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g"/><Relationship Id="rId4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jpg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jp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jpg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8.jp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jpg"/><Relationship Id="rId4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jpg"/><Relationship Id="rId4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22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5"/>
          <p:cNvSpPr txBox="1"/>
          <p:nvPr>
            <p:ph type="ctrTitle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712788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</a:pPr>
            <a:r>
              <a:rPr lang="ru-RU" sz="4800"/>
              <a:t>УЛЬТРАТЕХ </a:t>
            </a:r>
            <a:endParaRPr sz="4800"/>
          </a:p>
        </p:txBody>
      </p:sp>
      <p:sp>
        <p:nvSpPr>
          <p:cNvPr id="233" name="Google Shape;233;p25"/>
          <p:cNvSpPr txBox="1"/>
          <p:nvPr>
            <p:ph idx="1" type="body"/>
          </p:nvPr>
        </p:nvSpPr>
        <p:spPr>
          <a:xfrm>
            <a:off x="498400" y="5150449"/>
            <a:ext cx="8930700" cy="14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274300" spcFirstLastPara="1" rIns="228600" wrap="square" tIns="45700">
            <a:normAutofit/>
          </a:bodyPr>
          <a:lstStyle/>
          <a:p>
            <a:pPr indent="0" lvl="0" marL="0" rtl="0" algn="l"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lt1"/>
                </a:solidFill>
              </a:rPr>
              <a:t>Задача № 9. Учебный симулятор подготовки диспетчеров экстренных служб города по вызовам от Системы 112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</a:pPr>
            <a:r>
              <a:rPr lang="ru-RU">
                <a:solidFill>
                  <a:schemeClr val="lt1"/>
                </a:solidFill>
              </a:rPr>
              <a:t>Постановщик: Департамент ГОЧСиПБ города Москвы 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descr="logo_gochs.png" id="234" name="Google Shape;23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075" y="463153"/>
            <a:ext cx="5429518" cy="82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6"/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26"/>
          <p:cNvSpPr txBox="1"/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Краткое описание решения: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6"/>
          <p:cNvSpPr txBox="1"/>
          <p:nvPr/>
        </p:nvSpPr>
        <p:spPr>
          <a:xfrm>
            <a:off x="6836600" y="4876074"/>
            <a:ext cx="4945500" cy="17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Максимально реалистично: тренажёр звонит на настоящий телефон, как реальный вызов.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Работает и онлайн, и полностью без интернета, на обычном компьютере.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Учит по реальным правилам 112 и показывает, кто готов выйти на смену.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Капитан: Цыганков Константин, руководитель проекта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Участников: 2 человека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Команда семейная: отец и сын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Опыт: телефонные платформы, голосовые роботы, разработка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Город: Москва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6"/>
          <p:cNvSpPr txBox="1"/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О команде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6"/>
          <p:cNvSpPr txBox="1"/>
          <p:nvPr>
            <p:ph type="title"/>
          </p:nvPr>
        </p:nvSpPr>
        <p:spPr>
          <a:xfrm>
            <a:off x="6819903" y="1039236"/>
            <a:ext cx="3636703" cy="10151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B2A8C"/>
              </a:buClr>
              <a:buSzPts val="1900"/>
              <a:buFont typeface="Montserrat"/>
              <a:buNone/>
            </a:pPr>
            <a:r>
              <a:rPr lang="ru-RU">
                <a:solidFill>
                  <a:srgbClr val="5B2A8C"/>
                </a:solidFill>
              </a:rPr>
              <a:t>КОМАНДА «УЛЬТРАТЕХ» </a:t>
            </a:r>
            <a:endParaRPr sz="2400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45" name="Google Shape;245;p26"/>
          <p:cNvCxnSpPr/>
          <p:nvPr/>
        </p:nvCxnSpPr>
        <p:spPr>
          <a:xfrm>
            <a:off x="6880774" y="2240031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246" name="Google Shape;246;p26"/>
          <p:cNvCxnSpPr/>
          <p:nvPr/>
        </p:nvCxnSpPr>
        <p:spPr>
          <a:xfrm>
            <a:off x="6897347" y="4437879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247" name="Google Shape;247;p26"/>
          <p:cNvCxnSpPr/>
          <p:nvPr/>
        </p:nvCxnSpPr>
        <p:spPr>
          <a:xfrm>
            <a:off x="395833" y="3448639"/>
            <a:ext cx="5700167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248" name="Google Shape;248;p26"/>
          <p:cNvSpPr txBox="1"/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Уникальность решения: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6"/>
          <p:cNvSpPr txBox="1"/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Тренажёр рабочего места диспетчера службы 112.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Обучающийся принимает вызов или карточку, работает в норматив, звонит в службы.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Система проверяет каждое действие и объясняет оценку.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6"/>
          <p:cNvSpPr txBox="1"/>
          <p:nvPr/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200" u="none" cap="none" strike="noStrik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51" name="Google Shape;251;p26" title="Логотип Ультратех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14650" y="143525"/>
            <a:ext cx="4002064" cy="266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7"/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p27"/>
          <p:cNvSpPr txBox="1"/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Разработка, тестирование, стенд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@VadimTsu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+7 902 851-14-49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44688" lvl="0" marL="144688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Москва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7"/>
          <p:cNvSpPr txBox="1"/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Вадим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Цыганков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7"/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1" name="Google Shape;261;p27"/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2" name="Google Shape;262;p2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263" name="Google Shape;263;p27"/>
          <p:cNvSpPr/>
          <p:nvPr>
            <p:ph idx="2" type="pic"/>
          </p:nvPr>
        </p:nvSpPr>
        <p:spPr>
          <a:xfrm>
            <a:off x="581397" y="1816054"/>
            <a:ext cx="1722566" cy="1552901"/>
          </a:xfrm>
          <a:prstGeom prst="rect">
            <a:avLst/>
          </a:prstGeom>
          <a:noFill/>
          <a:ln>
            <a:noFill/>
          </a:ln>
        </p:spPr>
        <p:txBody>
          <a:bodyPr/>
          <a:p/>
        </p:txBody>
      </p:sp>
      <p:sp>
        <p:nvSpPr>
          <p:cNvPr id="264" name="Google Shape;264;p27"/>
          <p:cNvSpPr/>
          <p:nvPr>
            <p:ph idx="3" type="pic"/>
          </p:nvPr>
        </p:nvSpPr>
        <p:spPr>
          <a:xfrm>
            <a:off x="2886467" y="1826554"/>
            <a:ext cx="1722566" cy="1542401"/>
          </a:xfrm>
          <a:prstGeom prst="rect">
            <a:avLst/>
          </a:prstGeom>
          <a:noFill/>
          <a:ln>
            <a:noFill/>
          </a:ln>
        </p:spPr>
        <p:txBody>
          <a:bodyPr/>
          <a:p/>
        </p:txBody>
      </p:sp>
      <p:sp>
        <p:nvSpPr>
          <p:cNvPr id="265" name="Google Shape;265;p27"/>
          <p:cNvSpPr txBox="1"/>
          <p:nvPr>
            <p:ph type="title"/>
          </p:nvPr>
        </p:nvSpPr>
        <p:spPr>
          <a:xfrm>
            <a:off x="518359" y="449787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КОМАНДА «УЛЬТРАТЕХ»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6" name="Google Shape;266;p27"/>
          <p:cNvSpPr txBox="1"/>
          <p:nvPr>
            <p:ph idx="1" type="body"/>
          </p:nvPr>
        </p:nvSpPr>
        <p:spPr>
          <a:xfrm>
            <a:off x="518360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Капитан, архитектура и телефония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@Konsttsyg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+7 982 598-49-15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Москва</a:t>
            </a: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Константин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Цыганков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konstantin-fit.jpg" id="268" name="Google Shape;26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397" y="1816054"/>
            <a:ext cx="1722566" cy="1552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vadim-fit.jpg" id="269" name="Google Shape;26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86467" y="1826554"/>
            <a:ext cx="1722566" cy="154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8"/>
          <p:cNvSpPr/>
          <p:nvPr/>
        </p:nvSpPr>
        <p:spPr>
          <a:xfrm>
            <a:off x="346075" y="324562"/>
            <a:ext cx="3952800" cy="621000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28"/>
          <p:cNvSpPr txBox="1"/>
          <p:nvPr>
            <p:ph idx="12" type="sldNum"/>
          </p:nvPr>
        </p:nvSpPr>
        <p:spPr>
          <a:xfrm>
            <a:off x="11413507" y="6356358"/>
            <a:ext cx="559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77" name="Google Shape;277;p28"/>
          <p:cNvSpPr txBox="1"/>
          <p:nvPr>
            <p:ph type="title"/>
          </p:nvPr>
        </p:nvSpPr>
        <p:spPr>
          <a:xfrm>
            <a:off x="507849" y="449787"/>
            <a:ext cx="98628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КОМАНДА «УЛЬТРАТЕХ» 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8" name="Google Shape;278;p28"/>
          <p:cNvSpPr txBox="1"/>
          <p:nvPr>
            <p:ph idx="1" type="body"/>
          </p:nvPr>
        </p:nvSpPr>
        <p:spPr>
          <a:xfrm>
            <a:off x="533600" y="1602275"/>
            <a:ext cx="4425900" cy="11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</a:pPr>
            <a:r>
              <a:rPr lang="ru-RU">
                <a:solidFill>
                  <a:schemeClr val="dk1"/>
                </a:solidFill>
              </a:rPr>
              <a:t>Отец и сын.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</a:pPr>
            <a:r>
              <a:rPr lang="ru-RU">
                <a:solidFill>
                  <a:schemeClr val="dk1"/>
                </a:solidFill>
              </a:rPr>
              <a:t>Отец основатель сервиса </a:t>
            </a:r>
            <a:r>
              <a:rPr lang="ru-RU" u="sng">
                <a:solidFill>
                  <a:schemeClr val="hlink"/>
                </a:solidFill>
                <a:hlinkClick r:id="rId4"/>
              </a:rPr>
              <a:t>lidozvon.ru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</a:pPr>
            <a:r>
              <a:rPr lang="ru-RU">
                <a:solidFill>
                  <a:schemeClr val="dk1"/>
                </a:solidFill>
              </a:rPr>
              <a:t>Вместе ведём продукт для колл-центров, поэтому вызовы и очереди это наша ежедневная работа.</a:t>
            </a:r>
            <a:endParaRPr/>
          </a:p>
        </p:txBody>
      </p:sp>
      <p:sp>
        <p:nvSpPr>
          <p:cNvPr id="279" name="Google Shape;279;p28"/>
          <p:cNvSpPr txBox="1"/>
          <p:nvPr/>
        </p:nvSpPr>
        <p:spPr>
          <a:xfrm>
            <a:off x="533607" y="1279645"/>
            <a:ext cx="2990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Краткая история команды: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8"/>
          <p:cNvSpPr txBox="1"/>
          <p:nvPr/>
        </p:nvSpPr>
        <p:spPr>
          <a:xfrm>
            <a:off x="533600" y="5139247"/>
            <a:ext cx="7318800" cy="17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Главное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1" name="Google Shape;281;p28"/>
          <p:cNvSpPr txBox="1"/>
          <p:nvPr/>
        </p:nvSpPr>
        <p:spPr>
          <a:xfrm>
            <a:off x="533608" y="4571473"/>
            <a:ext cx="6438600" cy="6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С какими основными сложностями или вызовами </a:t>
            </a:r>
            <a:b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вы столкнулись и как их преодолели?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8"/>
          <p:cNvSpPr txBox="1"/>
          <p:nvPr/>
        </p:nvSpPr>
        <p:spPr>
          <a:xfrm>
            <a:off x="533607" y="3429000"/>
            <a:ext cx="4945500" cy="10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Задачу выбрали потому, что телефония и обработка вызовов наша область. 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Здесь от качества работы диспетчера зависит, как быстро приедет помощь.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8"/>
          <p:cNvSpPr txBox="1"/>
          <p:nvPr/>
        </p:nvSpPr>
        <p:spPr>
          <a:xfrm>
            <a:off x="533607" y="2900091"/>
            <a:ext cx="56298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Почему вы выбрали именно эту задачу </a:t>
            </a:r>
            <a:b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из предложенных на хакатоне?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4" name="Google Shape;284;p28"/>
          <p:cNvCxnSpPr/>
          <p:nvPr/>
        </p:nvCxnSpPr>
        <p:spPr>
          <a:xfrm>
            <a:off x="623888" y="2745691"/>
            <a:ext cx="11233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285" name="Google Shape;285;p28"/>
          <p:cNvCxnSpPr/>
          <p:nvPr/>
        </p:nvCxnSpPr>
        <p:spPr>
          <a:xfrm>
            <a:off x="623888" y="4407066"/>
            <a:ext cx="11233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286" name="Google Shape;286;p28"/>
          <p:cNvCxnSpPr/>
          <p:nvPr/>
        </p:nvCxnSpPr>
        <p:spPr>
          <a:xfrm>
            <a:off x="623888" y="1110074"/>
            <a:ext cx="11233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287" name="Google Shape;287;p28"/>
          <p:cNvSpPr txBox="1"/>
          <p:nvPr/>
        </p:nvSpPr>
        <p:spPr>
          <a:xfrm>
            <a:off x="11015788" y="1279645"/>
            <a:ext cx="956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8"/>
          <p:cNvSpPr txBox="1"/>
          <p:nvPr/>
        </p:nvSpPr>
        <p:spPr>
          <a:xfrm>
            <a:off x="11015788" y="2900091"/>
            <a:ext cx="9306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8"/>
          <p:cNvSpPr txBox="1"/>
          <p:nvPr/>
        </p:nvSpPr>
        <p:spPr>
          <a:xfrm>
            <a:off x="11015788" y="4571473"/>
            <a:ext cx="930600" cy="5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/>
          <p:nvPr/>
        </p:nvSpPr>
        <p:spPr>
          <a:xfrm>
            <a:off x="346075" y="324562"/>
            <a:ext cx="3750900" cy="621000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5" name="Google Shape;295;p29"/>
          <p:cNvSpPr/>
          <p:nvPr/>
        </p:nvSpPr>
        <p:spPr>
          <a:xfrm>
            <a:off x="6230774" y="1211284"/>
            <a:ext cx="5440200" cy="4989600"/>
          </a:xfrm>
          <a:prstGeom prst="roundRect">
            <a:avLst>
              <a:gd fmla="val 386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6" name="Google Shape;296;p29"/>
          <p:cNvSpPr/>
          <p:nvPr/>
        </p:nvSpPr>
        <p:spPr>
          <a:xfrm>
            <a:off x="346076" y="1211284"/>
            <a:ext cx="5440200" cy="4989600"/>
          </a:xfrm>
          <a:prstGeom prst="roundRect">
            <a:avLst>
              <a:gd fmla="val 340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7" name="Google Shape;297;p29"/>
          <p:cNvSpPr txBox="1"/>
          <p:nvPr>
            <p:ph idx="12" type="sldNum"/>
          </p:nvPr>
        </p:nvSpPr>
        <p:spPr>
          <a:xfrm>
            <a:off x="11413507" y="6356358"/>
            <a:ext cx="559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298" name="Google Shape;298;p29"/>
          <p:cNvSpPr txBox="1"/>
          <p:nvPr>
            <p:ph idx="2" type="body"/>
          </p:nvPr>
        </p:nvSpPr>
        <p:spPr>
          <a:xfrm>
            <a:off x="589493" y="1920927"/>
            <a:ext cx="4929900" cy="3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9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Веб-приложение, работает без интернета: интерфейс, сервер, база, телефония Asterisk.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Настоящая телефония: через </a:t>
            </a:r>
            <a:r>
              <a:rPr lang="ru-RU" sz="1400">
                <a:solidFill>
                  <a:schemeClr val="dk1"/>
                </a:solidFill>
              </a:rPr>
              <a:t>подключенный</a:t>
            </a:r>
            <a:r>
              <a:rPr lang="ru-RU" sz="1400">
                <a:solidFill>
                  <a:schemeClr val="dk1"/>
                </a:solidFill>
              </a:rPr>
              <a:t> SIP-транк тренажёр звонит на реальные телефоны и принимает входящие.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ИИ-модели стоят на том же сервере, при желании подключаются внешние.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Оценка прозрачна: каждый балл объясняется правилом из памятки службы.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Ставится одной командой, переносится на флешке.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299" name="Google Shape;299;p29"/>
          <p:cNvSpPr txBox="1"/>
          <p:nvPr>
            <p:ph idx="6" type="body"/>
          </p:nvPr>
        </p:nvSpPr>
        <p:spPr>
          <a:xfrm>
            <a:off x="6513513" y="1920927"/>
            <a:ext cx="4957200" cy="3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9" lvl="0" marL="144689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Кому: службам, подключённым к 112, и учебным центрам.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Зачем: готовит новичков и проверяет действующих без риска для реальных вызовов.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Выгода: экономит наставников и бережёт живые звонки от учебных ошибок.</a:t>
            </a:r>
            <a:endParaRPr sz="1400">
              <a:solidFill>
                <a:schemeClr val="dk1"/>
              </a:solidFill>
            </a:endParaRPr>
          </a:p>
          <a:p>
            <a:pPr indent="-144689" lvl="0" marL="144689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 sz="1400">
                <a:solidFill>
                  <a:schemeClr val="dk1"/>
                </a:solidFill>
              </a:rPr>
              <a:t>Легко тиражировать: своя памятка и классификатор под любой регион, код менять не надо.</a:t>
            </a:r>
            <a:endParaRPr sz="1400">
              <a:solidFill>
                <a:schemeClr val="dk1"/>
              </a:solidFill>
            </a:endParaRPr>
          </a:p>
          <a:p>
            <a:pPr indent="0" lvl="0" marL="144689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800"/>
              <a:buNone/>
            </a:pPr>
            <a:br>
              <a:rPr lang="ru-RU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</p:txBody>
      </p:sp>
      <p:sp>
        <p:nvSpPr>
          <p:cNvPr id="300" name="Google Shape;300;p29"/>
          <p:cNvSpPr txBox="1"/>
          <p:nvPr>
            <p:ph type="title"/>
          </p:nvPr>
        </p:nvSpPr>
        <p:spPr>
          <a:xfrm>
            <a:off x="525817" y="456851"/>
            <a:ext cx="98628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301" name="Google Shape;301;p29"/>
          <p:cNvSpPr txBox="1"/>
          <p:nvPr>
            <p:ph idx="16" type="body"/>
          </p:nvPr>
        </p:nvSpPr>
        <p:spPr>
          <a:xfrm>
            <a:off x="578063" y="1476583"/>
            <a:ext cx="4929900" cy="5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302" name="Google Shape;302;p29"/>
          <p:cNvSpPr txBox="1"/>
          <p:nvPr>
            <p:ph idx="18" type="body"/>
          </p:nvPr>
        </p:nvSpPr>
        <p:spPr>
          <a:xfrm>
            <a:off x="6513513" y="1476583"/>
            <a:ext cx="52146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</a:pPr>
            <a:r>
              <a:t/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0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8" name="Google Shape;308;p30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9" name="Google Shape;309;p30"/>
          <p:cNvSpPr/>
          <p:nvPr/>
        </p:nvSpPr>
        <p:spPr>
          <a:xfrm>
            <a:off x="5340096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0" name="Google Shape;310;p3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11" name="Google Shape;311;p30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400">
                <a:solidFill>
                  <a:srgbClr val="2E124A"/>
                </a:solidFill>
              </a:rPr>
              <a:t>Ошибка стоит минут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800">
                <a:solidFill>
                  <a:srgbClr val="2E124A"/>
                </a:solidFill>
              </a:rPr>
              <a:t>Диспетчер принимает вызов и поднимает службы. Промедление это задержка помощи.</a:t>
            </a:r>
            <a:endParaRPr/>
          </a:p>
        </p:txBody>
      </p:sp>
      <p:grpSp>
        <p:nvGrpSpPr>
          <p:cNvPr id="312" name="Google Shape;312;p30"/>
          <p:cNvGrpSpPr/>
          <p:nvPr/>
        </p:nvGrpSpPr>
        <p:grpSpPr>
          <a:xfrm>
            <a:off x="5698165" y="1753233"/>
            <a:ext cx="738531" cy="687909"/>
            <a:chOff x="3385734" y="2233242"/>
            <a:chExt cx="340504" cy="319542"/>
          </a:xfrm>
        </p:grpSpPr>
        <p:sp>
          <p:nvSpPr>
            <p:cNvPr id="313" name="Google Shape;313;p30"/>
            <p:cNvSpPr/>
            <p:nvPr/>
          </p:nvSpPr>
          <p:spPr>
            <a:xfrm>
              <a:off x="3385734" y="2233242"/>
              <a:ext cx="340504" cy="319542"/>
            </a:xfrm>
            <a:custGeom>
              <a:rect b="b" l="l" r="r" t="t"/>
              <a:pathLst>
                <a:path extrusionOk="0" h="9289" w="10122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4" name="Google Shape;314;p30"/>
            <p:cNvSpPr/>
            <p:nvPr/>
          </p:nvSpPr>
          <p:spPr>
            <a:xfrm>
              <a:off x="3420989" y="2296022"/>
              <a:ext cx="143441" cy="113382"/>
            </a:xfrm>
            <a:custGeom>
              <a:rect b="b" l="l" r="r" t="t"/>
              <a:pathLst>
                <a:path extrusionOk="0" h="3296" w="4264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5" name="Google Shape;315;p30"/>
            <p:cNvSpPr/>
            <p:nvPr/>
          </p:nvSpPr>
          <p:spPr>
            <a:xfrm>
              <a:off x="3451433" y="2319276"/>
              <a:ext cx="9655" cy="13966"/>
            </a:xfrm>
            <a:custGeom>
              <a:rect b="b" l="l" r="r" t="t"/>
              <a:pathLst>
                <a:path extrusionOk="0" h="406" w="287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6" name="Google Shape;316;p30"/>
            <p:cNvSpPr/>
            <p:nvPr/>
          </p:nvSpPr>
          <p:spPr>
            <a:xfrm>
              <a:off x="3500312" y="2305344"/>
              <a:ext cx="10428" cy="13966"/>
            </a:xfrm>
            <a:custGeom>
              <a:rect b="b" l="l" r="r" t="t"/>
              <a:pathLst>
                <a:path extrusionOk="0" h="406" w="31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7" name="Google Shape;317;p30"/>
            <p:cNvSpPr/>
            <p:nvPr/>
          </p:nvSpPr>
          <p:spPr>
            <a:xfrm>
              <a:off x="3546769" y="2275038"/>
              <a:ext cx="10462" cy="13966"/>
            </a:xfrm>
            <a:custGeom>
              <a:rect b="b" l="l" r="r" t="t"/>
              <a:pathLst>
                <a:path extrusionOk="0" h="406" w="311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8" name="Google Shape;318;p30"/>
            <p:cNvSpPr/>
            <p:nvPr/>
          </p:nvSpPr>
          <p:spPr>
            <a:xfrm>
              <a:off x="3420989" y="2260280"/>
              <a:ext cx="27282" cy="9873"/>
            </a:xfrm>
            <a:custGeom>
              <a:rect b="b" l="l" r="r" t="t"/>
              <a:pathLst>
                <a:path extrusionOk="0" h="287" w="811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19" name="Google Shape;319;p30"/>
            <p:cNvSpPr/>
            <p:nvPr/>
          </p:nvSpPr>
          <p:spPr>
            <a:xfrm>
              <a:off x="3420989" y="2279131"/>
              <a:ext cx="47298" cy="10698"/>
            </a:xfrm>
            <a:custGeom>
              <a:rect b="b" l="l" r="r" t="t"/>
              <a:pathLst>
                <a:path extrusionOk="0" h="311" w="1406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0" name="Google Shape;320;p30"/>
            <p:cNvSpPr/>
            <p:nvPr/>
          </p:nvSpPr>
          <p:spPr>
            <a:xfrm>
              <a:off x="3640490" y="2276689"/>
              <a:ext cx="31285" cy="54077"/>
            </a:xfrm>
            <a:custGeom>
              <a:rect b="b" l="l" r="r" t="t"/>
              <a:pathLst>
                <a:path extrusionOk="0" h="1572" w="93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1" name="Google Shape;321;p30"/>
            <p:cNvSpPr/>
            <p:nvPr/>
          </p:nvSpPr>
          <p:spPr>
            <a:xfrm>
              <a:off x="3614049" y="2260280"/>
              <a:ext cx="84167" cy="86069"/>
            </a:xfrm>
            <a:custGeom>
              <a:rect b="b" l="l" r="r" t="t"/>
              <a:pathLst>
                <a:path extrusionOk="0" h="2502" w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2" name="Google Shape;322;p30"/>
            <p:cNvSpPr/>
            <p:nvPr/>
          </p:nvSpPr>
          <p:spPr>
            <a:xfrm>
              <a:off x="3610046" y="2358595"/>
              <a:ext cx="45717" cy="10698"/>
            </a:xfrm>
            <a:custGeom>
              <a:rect b="b" l="l" r="r" t="t"/>
              <a:pathLst>
                <a:path extrusionOk="0" h="311" w="1359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3" name="Google Shape;323;p30"/>
            <p:cNvSpPr/>
            <p:nvPr/>
          </p:nvSpPr>
          <p:spPr>
            <a:xfrm>
              <a:off x="3671742" y="2379063"/>
              <a:ext cx="25667" cy="9873"/>
            </a:xfrm>
            <a:custGeom>
              <a:rect b="b" l="l" r="r" t="t"/>
              <a:pathLst>
                <a:path extrusionOk="0" h="287" w="763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4" name="Google Shape;324;p30"/>
            <p:cNvSpPr/>
            <p:nvPr/>
          </p:nvSpPr>
          <p:spPr>
            <a:xfrm>
              <a:off x="3610046" y="2379063"/>
              <a:ext cx="28897" cy="9873"/>
            </a:xfrm>
            <a:custGeom>
              <a:rect b="b" l="l" r="r" t="t"/>
              <a:pathLst>
                <a:path extrusionOk="0" h="287" w="859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5" name="Google Shape;325;p30"/>
            <p:cNvSpPr/>
            <p:nvPr/>
          </p:nvSpPr>
          <p:spPr>
            <a:xfrm>
              <a:off x="3646108" y="2379063"/>
              <a:ext cx="19276" cy="9873"/>
            </a:xfrm>
            <a:custGeom>
              <a:rect b="b" l="l" r="r" t="t"/>
              <a:pathLst>
                <a:path extrusionOk="0" h="287" w="573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26" name="Google Shape;326;p30"/>
            <p:cNvSpPr/>
            <p:nvPr/>
          </p:nvSpPr>
          <p:spPr>
            <a:xfrm>
              <a:off x="3610046" y="2398740"/>
              <a:ext cx="86556" cy="10664"/>
            </a:xfrm>
            <a:custGeom>
              <a:rect b="b" l="l" r="r" t="t"/>
              <a:pathLst>
                <a:path extrusionOk="0" h="310" w="2573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27" name="Google Shape;327;p30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ПРОБЛЕМА</a:t>
            </a:r>
            <a:endParaRPr/>
          </a:p>
        </p:txBody>
      </p:sp>
      <p:pic>
        <p:nvPicPr>
          <p:cNvPr descr="image.png" id="328" name="Google Shape;32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1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4" name="Google Shape;334;p31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5" name="Google Shape;335;p31"/>
          <p:cNvSpPr/>
          <p:nvPr/>
        </p:nvSpPr>
        <p:spPr>
          <a:xfrm>
            <a:off x="5340096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6" name="Google Shape;336;p3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37" name="Google Shape;337;p31"/>
          <p:cNvSpPr/>
          <p:nvPr>
            <p:ph idx="2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400">
                <a:solidFill>
                  <a:srgbClr val="2E124A"/>
                </a:solidFill>
              </a:rPr>
              <a:t>Учиться негде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800">
                <a:solidFill>
                  <a:srgbClr val="2E124A"/>
                </a:solidFill>
              </a:rPr>
              <a:t>Новичков сажают сразу на живые вызовы. Тренажёра под работу ДДС нет.</a:t>
            </a:r>
            <a:endParaRPr/>
          </a:p>
        </p:txBody>
      </p:sp>
      <p:grpSp>
        <p:nvGrpSpPr>
          <p:cNvPr id="338" name="Google Shape;338;p31"/>
          <p:cNvGrpSpPr/>
          <p:nvPr/>
        </p:nvGrpSpPr>
        <p:grpSpPr>
          <a:xfrm>
            <a:off x="5710322" y="1722647"/>
            <a:ext cx="738531" cy="731528"/>
            <a:chOff x="4078718" y="2222819"/>
            <a:chExt cx="340504" cy="339803"/>
          </a:xfrm>
        </p:grpSpPr>
        <p:sp>
          <p:nvSpPr>
            <p:cNvPr id="339" name="Google Shape;339;p31"/>
            <p:cNvSpPr/>
            <p:nvPr/>
          </p:nvSpPr>
          <p:spPr>
            <a:xfrm>
              <a:off x="4267775" y="2311674"/>
              <a:ext cx="17661" cy="13382"/>
            </a:xfrm>
            <a:custGeom>
              <a:rect b="b" l="l" r="r" t="t"/>
              <a:pathLst>
                <a:path extrusionOk="0" h="389" w="525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0" name="Google Shape;340;p31"/>
            <p:cNvSpPr/>
            <p:nvPr/>
          </p:nvSpPr>
          <p:spPr>
            <a:xfrm>
              <a:off x="4257347" y="2292719"/>
              <a:ext cx="16080" cy="15927"/>
            </a:xfrm>
            <a:custGeom>
              <a:rect b="b" l="l" r="r" t="t"/>
              <a:pathLst>
                <a:path extrusionOk="0" h="463" w="478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1" name="Google Shape;341;p31"/>
            <p:cNvSpPr/>
            <p:nvPr/>
          </p:nvSpPr>
          <p:spPr>
            <a:xfrm>
              <a:off x="4271778" y="2333208"/>
              <a:ext cx="17661" cy="11490"/>
            </a:xfrm>
            <a:custGeom>
              <a:rect b="b" l="l" r="r" t="t"/>
              <a:pathLst>
                <a:path extrusionOk="0" h="334" w="525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2" name="Google Shape;342;p31"/>
            <p:cNvSpPr/>
            <p:nvPr/>
          </p:nvSpPr>
          <p:spPr>
            <a:xfrm>
              <a:off x="4078718" y="2222819"/>
              <a:ext cx="340504" cy="339803"/>
            </a:xfrm>
            <a:custGeom>
              <a:rect b="b" l="l" r="r" t="t"/>
              <a:pathLst>
                <a:path extrusionOk="0" h="9878" w="10122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3" name="Google Shape;343;p31"/>
            <p:cNvSpPr/>
            <p:nvPr/>
          </p:nvSpPr>
          <p:spPr>
            <a:xfrm>
              <a:off x="4123561" y="2296744"/>
              <a:ext cx="170689" cy="161818"/>
            </a:xfrm>
            <a:custGeom>
              <a:rect b="b" l="l" r="r" t="t"/>
              <a:pathLst>
                <a:path extrusionOk="0" h="4704" w="507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4" name="Google Shape;344;p31"/>
            <p:cNvSpPr/>
            <p:nvPr/>
          </p:nvSpPr>
          <p:spPr>
            <a:xfrm>
              <a:off x="4130793" y="2276448"/>
              <a:ext cx="47298" cy="25662"/>
            </a:xfrm>
            <a:custGeom>
              <a:rect b="b" l="l" r="r" t="t"/>
              <a:pathLst>
                <a:path extrusionOk="0" h="746" w="140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5" name="Google Shape;345;p31"/>
            <p:cNvSpPr/>
            <p:nvPr/>
          </p:nvSpPr>
          <p:spPr>
            <a:xfrm>
              <a:off x="4137992" y="2301423"/>
              <a:ext cx="25667" cy="16237"/>
            </a:xfrm>
            <a:custGeom>
              <a:rect b="b" l="l" r="r" t="t"/>
              <a:pathLst>
                <a:path extrusionOk="0" h="472" w="763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6" name="Google Shape;346;p31"/>
            <p:cNvSpPr/>
            <p:nvPr/>
          </p:nvSpPr>
          <p:spPr>
            <a:xfrm>
              <a:off x="4161237" y="2507685"/>
              <a:ext cx="35288" cy="9873"/>
            </a:xfrm>
            <a:custGeom>
              <a:rect b="b" l="l" r="r" t="t"/>
              <a:pathLst>
                <a:path extrusionOk="0" h="287" w="1049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47" name="Google Shape;347;p31"/>
            <p:cNvSpPr/>
            <p:nvPr/>
          </p:nvSpPr>
          <p:spPr>
            <a:xfrm>
              <a:off x="4161237" y="2525711"/>
              <a:ext cx="81745" cy="10698"/>
            </a:xfrm>
            <a:custGeom>
              <a:rect b="b" l="l" r="r" t="t"/>
              <a:pathLst>
                <a:path extrusionOk="0" h="311" w="243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48" name="Google Shape;348;p31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ПРОБЛЕМА</a:t>
            </a:r>
            <a:endParaRPr/>
          </a:p>
        </p:txBody>
      </p:sp>
      <p:pic>
        <p:nvPicPr>
          <p:cNvPr descr="image.png" id="349" name="Google Shape;349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2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5" name="Google Shape;355;p32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6" name="Google Shape;356;p3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57" name="Google Shape;357;p32"/>
          <p:cNvSpPr/>
          <p:nvPr>
            <p:ph idx="3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400">
                <a:solidFill>
                  <a:srgbClr val="2E124A"/>
                </a:solidFill>
              </a:rPr>
              <a:t>Готовность на глаз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800">
                <a:solidFill>
                  <a:srgbClr val="2E124A"/>
                </a:solidFill>
              </a:rPr>
              <a:t>Никто не может измерить, готов ли человек к смене. Проверяют интуитивно.</a:t>
            </a:r>
            <a:endParaRPr/>
          </a:p>
        </p:txBody>
      </p:sp>
      <p:grpSp>
        <p:nvGrpSpPr>
          <p:cNvPr id="358" name="Google Shape;358;p32"/>
          <p:cNvGrpSpPr/>
          <p:nvPr/>
        </p:nvGrpSpPr>
        <p:grpSpPr>
          <a:xfrm>
            <a:off x="5760410" y="1749715"/>
            <a:ext cx="738604" cy="694944"/>
            <a:chOff x="4754041" y="2231625"/>
            <a:chExt cx="340538" cy="322810"/>
          </a:xfrm>
        </p:grpSpPr>
        <p:sp>
          <p:nvSpPr>
            <p:cNvPr id="359" name="Google Shape;359;p32"/>
            <p:cNvSpPr/>
            <p:nvPr/>
          </p:nvSpPr>
          <p:spPr>
            <a:xfrm>
              <a:off x="4754041" y="2231625"/>
              <a:ext cx="340538" cy="322810"/>
            </a:xfrm>
            <a:custGeom>
              <a:rect b="b" l="l" r="r" t="t"/>
              <a:pathLst>
                <a:path extrusionOk="0" h="9384" w="10123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5011219" y="2437234"/>
              <a:ext cx="45683" cy="9873"/>
            </a:xfrm>
            <a:custGeom>
              <a:rect b="b" l="l" r="r" t="t"/>
              <a:pathLst>
                <a:path extrusionOk="0" h="287" w="1358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976772" y="2455259"/>
              <a:ext cx="80130" cy="10698"/>
            </a:xfrm>
            <a:custGeom>
              <a:rect b="b" l="l" r="r" t="t"/>
              <a:pathLst>
                <a:path extrusionOk="0" h="311" w="2382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2" name="Google Shape;362;p32"/>
            <p:cNvSpPr/>
            <p:nvPr/>
          </p:nvSpPr>
          <p:spPr>
            <a:xfrm>
              <a:off x="4976772" y="2302902"/>
              <a:ext cx="16854" cy="10664"/>
            </a:xfrm>
            <a:custGeom>
              <a:rect b="b" l="l" r="r" t="t"/>
              <a:pathLst>
                <a:path extrusionOk="0" h="310" w="501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3" name="Google Shape;363;p32"/>
            <p:cNvSpPr/>
            <p:nvPr/>
          </p:nvSpPr>
          <p:spPr>
            <a:xfrm>
              <a:off x="5001598" y="2302902"/>
              <a:ext cx="55304" cy="10664"/>
            </a:xfrm>
            <a:custGeom>
              <a:rect b="b" l="l" r="r" t="t"/>
              <a:pathLst>
                <a:path extrusionOk="0" h="310" w="1644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4" name="Google Shape;364;p32"/>
            <p:cNvSpPr/>
            <p:nvPr/>
          </p:nvSpPr>
          <p:spPr>
            <a:xfrm>
              <a:off x="4976772" y="2321719"/>
              <a:ext cx="80130" cy="9873"/>
            </a:xfrm>
            <a:custGeom>
              <a:rect b="b" l="l" r="r" t="t"/>
              <a:pathLst>
                <a:path extrusionOk="0" h="287" w="2382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5" name="Google Shape;365;p32"/>
            <p:cNvSpPr/>
            <p:nvPr/>
          </p:nvSpPr>
          <p:spPr>
            <a:xfrm>
              <a:off x="4976772" y="2352025"/>
              <a:ext cx="80130" cy="65601"/>
            </a:xfrm>
            <a:custGeom>
              <a:rect b="b" l="l" r="r" t="t"/>
              <a:pathLst>
                <a:path extrusionOk="0" h="1907" w="2382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6" name="Google Shape;366;p32"/>
            <p:cNvSpPr/>
            <p:nvPr/>
          </p:nvSpPr>
          <p:spPr>
            <a:xfrm>
              <a:off x="4789296" y="2294680"/>
              <a:ext cx="168267" cy="172069"/>
            </a:xfrm>
            <a:custGeom>
              <a:rect b="b" l="l" r="r" t="t"/>
              <a:pathLst>
                <a:path extrusionOk="0" h="5002" w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794107" y="2453402"/>
              <a:ext cx="24086" cy="17475"/>
            </a:xfrm>
            <a:custGeom>
              <a:rect b="b" l="l" r="r" t="t"/>
              <a:pathLst>
                <a:path extrusionOk="0" h="508" w="716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883051" y="2382744"/>
              <a:ext cx="24053" cy="16856"/>
            </a:xfrm>
            <a:custGeom>
              <a:rect b="b" l="l" r="r" t="t"/>
              <a:pathLst>
                <a:path extrusionOk="0" h="490" w="715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935899" y="2304106"/>
              <a:ext cx="24086" cy="16856"/>
            </a:xfrm>
            <a:custGeom>
              <a:rect b="b" l="l" r="r" t="t"/>
              <a:pathLst>
                <a:path extrusionOk="0" h="490" w="716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70" name="Google Shape;370;p32"/>
          <p:cNvSpPr/>
          <p:nvPr/>
        </p:nvSpPr>
        <p:spPr>
          <a:xfrm>
            <a:off x="5340096" y="1396603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1" name="Google Shape;371;p32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ПРОБЛЕМА</a:t>
            </a:r>
            <a:endParaRPr/>
          </a:p>
        </p:txBody>
      </p:sp>
      <p:pic>
        <p:nvPicPr>
          <p:cNvPr descr="image.png" id="372" name="Google Shape;372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3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8" name="Google Shape;378;p33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9" name="Google Shape;379;p33"/>
          <p:cNvSpPr/>
          <p:nvPr/>
        </p:nvSpPr>
        <p:spPr>
          <a:xfrm>
            <a:off x="5340096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0" name="Google Shape;380;p3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81" name="Google Shape;381;p33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200">
                <a:solidFill>
                  <a:srgbClr val="2E124A"/>
                </a:solidFill>
              </a:rPr>
              <a:t>Тренажёр вместо живых вызовов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700">
                <a:solidFill>
                  <a:srgbClr val="2E124A"/>
                </a:solidFill>
              </a:rPr>
              <a:t>Учись сколько нужно, без риска. Точная копия рабочего места, реальные вызовы не трогаем.</a:t>
            </a:r>
            <a:endParaRPr/>
          </a:p>
        </p:txBody>
      </p:sp>
      <p:grpSp>
        <p:nvGrpSpPr>
          <p:cNvPr id="382" name="Google Shape;382;p33"/>
          <p:cNvGrpSpPr/>
          <p:nvPr/>
        </p:nvGrpSpPr>
        <p:grpSpPr>
          <a:xfrm>
            <a:off x="5698165" y="1753233"/>
            <a:ext cx="738531" cy="687909"/>
            <a:chOff x="3385734" y="2233242"/>
            <a:chExt cx="340504" cy="319542"/>
          </a:xfrm>
        </p:grpSpPr>
        <p:sp>
          <p:nvSpPr>
            <p:cNvPr id="383" name="Google Shape;383;p33"/>
            <p:cNvSpPr/>
            <p:nvPr/>
          </p:nvSpPr>
          <p:spPr>
            <a:xfrm>
              <a:off x="3385734" y="2233242"/>
              <a:ext cx="340504" cy="319542"/>
            </a:xfrm>
            <a:custGeom>
              <a:rect b="b" l="l" r="r" t="t"/>
              <a:pathLst>
                <a:path extrusionOk="0" h="9289" w="10122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4" name="Google Shape;384;p33"/>
            <p:cNvSpPr/>
            <p:nvPr/>
          </p:nvSpPr>
          <p:spPr>
            <a:xfrm>
              <a:off x="3420989" y="2296022"/>
              <a:ext cx="143441" cy="113382"/>
            </a:xfrm>
            <a:custGeom>
              <a:rect b="b" l="l" r="r" t="t"/>
              <a:pathLst>
                <a:path extrusionOk="0" h="3296" w="4264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5" name="Google Shape;385;p33"/>
            <p:cNvSpPr/>
            <p:nvPr/>
          </p:nvSpPr>
          <p:spPr>
            <a:xfrm>
              <a:off x="3451433" y="2319276"/>
              <a:ext cx="9655" cy="13966"/>
            </a:xfrm>
            <a:custGeom>
              <a:rect b="b" l="l" r="r" t="t"/>
              <a:pathLst>
                <a:path extrusionOk="0" h="406" w="287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6" name="Google Shape;386;p33"/>
            <p:cNvSpPr/>
            <p:nvPr/>
          </p:nvSpPr>
          <p:spPr>
            <a:xfrm>
              <a:off x="3500312" y="2305344"/>
              <a:ext cx="10428" cy="13966"/>
            </a:xfrm>
            <a:custGeom>
              <a:rect b="b" l="l" r="r" t="t"/>
              <a:pathLst>
                <a:path extrusionOk="0" h="406" w="31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7" name="Google Shape;387;p33"/>
            <p:cNvSpPr/>
            <p:nvPr/>
          </p:nvSpPr>
          <p:spPr>
            <a:xfrm>
              <a:off x="3546769" y="2275038"/>
              <a:ext cx="10462" cy="13966"/>
            </a:xfrm>
            <a:custGeom>
              <a:rect b="b" l="l" r="r" t="t"/>
              <a:pathLst>
                <a:path extrusionOk="0" h="406" w="311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8" name="Google Shape;388;p33"/>
            <p:cNvSpPr/>
            <p:nvPr/>
          </p:nvSpPr>
          <p:spPr>
            <a:xfrm>
              <a:off x="3420989" y="2260280"/>
              <a:ext cx="27282" cy="9873"/>
            </a:xfrm>
            <a:custGeom>
              <a:rect b="b" l="l" r="r" t="t"/>
              <a:pathLst>
                <a:path extrusionOk="0" h="287" w="811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89" name="Google Shape;389;p33"/>
            <p:cNvSpPr/>
            <p:nvPr/>
          </p:nvSpPr>
          <p:spPr>
            <a:xfrm>
              <a:off x="3420989" y="2279131"/>
              <a:ext cx="47298" cy="10698"/>
            </a:xfrm>
            <a:custGeom>
              <a:rect b="b" l="l" r="r" t="t"/>
              <a:pathLst>
                <a:path extrusionOk="0" h="311" w="1406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0" name="Google Shape;390;p33"/>
            <p:cNvSpPr/>
            <p:nvPr/>
          </p:nvSpPr>
          <p:spPr>
            <a:xfrm>
              <a:off x="3640490" y="2276689"/>
              <a:ext cx="31285" cy="54077"/>
            </a:xfrm>
            <a:custGeom>
              <a:rect b="b" l="l" r="r" t="t"/>
              <a:pathLst>
                <a:path extrusionOk="0" h="1572" w="93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1" name="Google Shape;391;p33"/>
            <p:cNvSpPr/>
            <p:nvPr/>
          </p:nvSpPr>
          <p:spPr>
            <a:xfrm>
              <a:off x="3614049" y="2260280"/>
              <a:ext cx="84167" cy="86069"/>
            </a:xfrm>
            <a:custGeom>
              <a:rect b="b" l="l" r="r" t="t"/>
              <a:pathLst>
                <a:path extrusionOk="0" h="2502" w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2" name="Google Shape;392;p33"/>
            <p:cNvSpPr/>
            <p:nvPr/>
          </p:nvSpPr>
          <p:spPr>
            <a:xfrm>
              <a:off x="3610046" y="2358595"/>
              <a:ext cx="45717" cy="10698"/>
            </a:xfrm>
            <a:custGeom>
              <a:rect b="b" l="l" r="r" t="t"/>
              <a:pathLst>
                <a:path extrusionOk="0" h="311" w="1359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3" name="Google Shape;393;p33"/>
            <p:cNvSpPr/>
            <p:nvPr/>
          </p:nvSpPr>
          <p:spPr>
            <a:xfrm>
              <a:off x="3671742" y="2379063"/>
              <a:ext cx="25667" cy="9873"/>
            </a:xfrm>
            <a:custGeom>
              <a:rect b="b" l="l" r="r" t="t"/>
              <a:pathLst>
                <a:path extrusionOk="0" h="287" w="763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4" name="Google Shape;394;p33"/>
            <p:cNvSpPr/>
            <p:nvPr/>
          </p:nvSpPr>
          <p:spPr>
            <a:xfrm>
              <a:off x="3610046" y="2379063"/>
              <a:ext cx="28897" cy="9873"/>
            </a:xfrm>
            <a:custGeom>
              <a:rect b="b" l="l" r="r" t="t"/>
              <a:pathLst>
                <a:path extrusionOk="0" h="287" w="859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5" name="Google Shape;395;p33"/>
            <p:cNvSpPr/>
            <p:nvPr/>
          </p:nvSpPr>
          <p:spPr>
            <a:xfrm>
              <a:off x="3646108" y="2379063"/>
              <a:ext cx="19276" cy="9873"/>
            </a:xfrm>
            <a:custGeom>
              <a:rect b="b" l="l" r="r" t="t"/>
              <a:pathLst>
                <a:path extrusionOk="0" h="287" w="573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96" name="Google Shape;396;p33"/>
            <p:cNvSpPr/>
            <p:nvPr/>
          </p:nvSpPr>
          <p:spPr>
            <a:xfrm>
              <a:off x="3610046" y="2398740"/>
              <a:ext cx="86556" cy="10664"/>
            </a:xfrm>
            <a:custGeom>
              <a:rect b="b" l="l" r="r" t="t"/>
              <a:pathLst>
                <a:path extrusionOk="0" h="310" w="2573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97" name="Google Shape;397;p33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РЕШЕНИЕ</a:t>
            </a:r>
            <a:endParaRPr/>
          </a:p>
        </p:txBody>
      </p:sp>
      <p:pic>
        <p:nvPicPr>
          <p:cNvPr descr="image.png" id="398" name="Google Shape;398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p3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06" name="Google Shape;406;p34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200">
                <a:solidFill>
                  <a:srgbClr val="2E124A"/>
                </a:solidFill>
              </a:rPr>
              <a:t>Как настоящая смена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700">
                <a:solidFill>
                  <a:srgbClr val="2E124A"/>
                </a:solidFill>
              </a:rPr>
              <a:t>Тот же интерфейс АРМ-112, карточки, статусы и нормативы. Не отличить от боевой системы.</a:t>
            </a:r>
            <a:endParaRPr/>
          </a:p>
        </p:txBody>
      </p:sp>
      <p:sp>
        <p:nvSpPr>
          <p:cNvPr id="407" name="Google Shape;407;p34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РЕШЕНИЕ</a:t>
            </a:r>
            <a:endParaRPr/>
          </a:p>
        </p:txBody>
      </p:sp>
      <p:pic>
        <p:nvPicPr>
          <p:cNvPr descr="image.png" id="408" name="Google Shape;40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4"/>
          <p:cNvSpPr/>
          <p:nvPr/>
        </p:nvSpPr>
        <p:spPr>
          <a:xfrm>
            <a:off x="5340096" y="1396603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10" name="Google Shape;410;p34"/>
          <p:cNvGrpSpPr/>
          <p:nvPr/>
        </p:nvGrpSpPr>
        <p:grpSpPr>
          <a:xfrm>
            <a:off x="5760410" y="1749715"/>
            <a:ext cx="738604" cy="694944"/>
            <a:chOff x="4754041" y="2231625"/>
            <a:chExt cx="340538" cy="322810"/>
          </a:xfrm>
        </p:grpSpPr>
        <p:sp>
          <p:nvSpPr>
            <p:cNvPr id="411" name="Google Shape;411;p34"/>
            <p:cNvSpPr/>
            <p:nvPr/>
          </p:nvSpPr>
          <p:spPr>
            <a:xfrm>
              <a:off x="4754041" y="2231625"/>
              <a:ext cx="340538" cy="322810"/>
            </a:xfrm>
            <a:custGeom>
              <a:rect b="b" l="l" r="r" t="t"/>
              <a:pathLst>
                <a:path extrusionOk="0" h="9384" w="10123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2" name="Google Shape;412;p34"/>
            <p:cNvSpPr/>
            <p:nvPr/>
          </p:nvSpPr>
          <p:spPr>
            <a:xfrm>
              <a:off x="5011219" y="2437234"/>
              <a:ext cx="45683" cy="9873"/>
            </a:xfrm>
            <a:custGeom>
              <a:rect b="b" l="l" r="r" t="t"/>
              <a:pathLst>
                <a:path extrusionOk="0" h="287" w="1358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3" name="Google Shape;413;p34"/>
            <p:cNvSpPr/>
            <p:nvPr/>
          </p:nvSpPr>
          <p:spPr>
            <a:xfrm>
              <a:off x="4976772" y="2455259"/>
              <a:ext cx="80130" cy="10698"/>
            </a:xfrm>
            <a:custGeom>
              <a:rect b="b" l="l" r="r" t="t"/>
              <a:pathLst>
                <a:path extrusionOk="0" h="311" w="2382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4" name="Google Shape;414;p34"/>
            <p:cNvSpPr/>
            <p:nvPr/>
          </p:nvSpPr>
          <p:spPr>
            <a:xfrm>
              <a:off x="4976772" y="2302902"/>
              <a:ext cx="16854" cy="10664"/>
            </a:xfrm>
            <a:custGeom>
              <a:rect b="b" l="l" r="r" t="t"/>
              <a:pathLst>
                <a:path extrusionOk="0" h="310" w="501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5" name="Google Shape;415;p34"/>
            <p:cNvSpPr/>
            <p:nvPr/>
          </p:nvSpPr>
          <p:spPr>
            <a:xfrm>
              <a:off x="5001598" y="2302902"/>
              <a:ext cx="55304" cy="10664"/>
            </a:xfrm>
            <a:custGeom>
              <a:rect b="b" l="l" r="r" t="t"/>
              <a:pathLst>
                <a:path extrusionOk="0" h="310" w="1644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6" name="Google Shape;416;p34"/>
            <p:cNvSpPr/>
            <p:nvPr/>
          </p:nvSpPr>
          <p:spPr>
            <a:xfrm>
              <a:off x="4976772" y="2321719"/>
              <a:ext cx="80130" cy="9873"/>
            </a:xfrm>
            <a:custGeom>
              <a:rect b="b" l="l" r="r" t="t"/>
              <a:pathLst>
                <a:path extrusionOk="0" h="287" w="2382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7" name="Google Shape;417;p34"/>
            <p:cNvSpPr/>
            <p:nvPr/>
          </p:nvSpPr>
          <p:spPr>
            <a:xfrm>
              <a:off x="4976772" y="2352025"/>
              <a:ext cx="80130" cy="65601"/>
            </a:xfrm>
            <a:custGeom>
              <a:rect b="b" l="l" r="r" t="t"/>
              <a:pathLst>
                <a:path extrusionOk="0" h="1907" w="2382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8" name="Google Shape;418;p34"/>
            <p:cNvSpPr/>
            <p:nvPr/>
          </p:nvSpPr>
          <p:spPr>
            <a:xfrm>
              <a:off x="4789296" y="2294680"/>
              <a:ext cx="168267" cy="172069"/>
            </a:xfrm>
            <a:custGeom>
              <a:rect b="b" l="l" r="r" t="t"/>
              <a:pathLst>
                <a:path extrusionOk="0" h="5002" w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19" name="Google Shape;419;p34"/>
            <p:cNvSpPr/>
            <p:nvPr/>
          </p:nvSpPr>
          <p:spPr>
            <a:xfrm>
              <a:off x="4794107" y="2453402"/>
              <a:ext cx="24086" cy="17475"/>
            </a:xfrm>
            <a:custGeom>
              <a:rect b="b" l="l" r="r" t="t"/>
              <a:pathLst>
                <a:path extrusionOk="0" h="508" w="716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20" name="Google Shape;420;p34"/>
            <p:cNvSpPr/>
            <p:nvPr/>
          </p:nvSpPr>
          <p:spPr>
            <a:xfrm>
              <a:off x="4883051" y="2382744"/>
              <a:ext cx="24053" cy="16856"/>
            </a:xfrm>
            <a:custGeom>
              <a:rect b="b" l="l" r="r" t="t"/>
              <a:pathLst>
                <a:path extrusionOk="0" h="490" w="715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21" name="Google Shape;421;p34"/>
            <p:cNvSpPr/>
            <p:nvPr/>
          </p:nvSpPr>
          <p:spPr>
            <a:xfrm>
              <a:off x="4935899" y="2304106"/>
              <a:ext cx="24086" cy="16856"/>
            </a:xfrm>
            <a:custGeom>
              <a:rect b="b" l="l" r="r" t="t"/>
              <a:pathLst>
                <a:path extrusionOk="0" h="490" w="716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5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7" name="Google Shape;427;p35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8" name="Google Shape;428;p35"/>
          <p:cNvSpPr/>
          <p:nvPr/>
        </p:nvSpPr>
        <p:spPr>
          <a:xfrm>
            <a:off x="5340096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9" name="Google Shape;429;p3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30" name="Google Shape;430;p35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200">
                <a:solidFill>
                  <a:srgbClr val="2E124A"/>
                </a:solidFill>
              </a:rPr>
              <a:t>Виртуальный телефон диспетчера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700">
                <a:solidFill>
                  <a:srgbClr val="2E124A"/>
                </a:solidFill>
              </a:rPr>
              <a:t>Зелёный кружок на экране: диспетчер сам набирает начальника бригады и руководителя. Собеседники отвечают голосом, торопят и уточняют, как на настоящей смене.</a:t>
            </a:r>
            <a:endParaRPr/>
          </a:p>
        </p:txBody>
      </p:sp>
      <p:grpSp>
        <p:nvGrpSpPr>
          <p:cNvPr id="431" name="Google Shape;431;p35"/>
          <p:cNvGrpSpPr/>
          <p:nvPr/>
        </p:nvGrpSpPr>
        <p:grpSpPr>
          <a:xfrm>
            <a:off x="5698165" y="1753233"/>
            <a:ext cx="738531" cy="687909"/>
            <a:chOff x="3385734" y="2233242"/>
            <a:chExt cx="340504" cy="319542"/>
          </a:xfrm>
        </p:grpSpPr>
        <p:sp>
          <p:nvSpPr>
            <p:cNvPr id="432" name="Google Shape;432;p35"/>
            <p:cNvSpPr/>
            <p:nvPr/>
          </p:nvSpPr>
          <p:spPr>
            <a:xfrm>
              <a:off x="3385734" y="2233242"/>
              <a:ext cx="340504" cy="319542"/>
            </a:xfrm>
            <a:custGeom>
              <a:rect b="b" l="l" r="r" t="t"/>
              <a:pathLst>
                <a:path extrusionOk="0" h="9289" w="10122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3" name="Google Shape;433;p35"/>
            <p:cNvSpPr/>
            <p:nvPr/>
          </p:nvSpPr>
          <p:spPr>
            <a:xfrm>
              <a:off x="3420989" y="2296022"/>
              <a:ext cx="143441" cy="113382"/>
            </a:xfrm>
            <a:custGeom>
              <a:rect b="b" l="l" r="r" t="t"/>
              <a:pathLst>
                <a:path extrusionOk="0" h="3296" w="4264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4" name="Google Shape;434;p35"/>
            <p:cNvSpPr/>
            <p:nvPr/>
          </p:nvSpPr>
          <p:spPr>
            <a:xfrm>
              <a:off x="3451433" y="2319276"/>
              <a:ext cx="9655" cy="13966"/>
            </a:xfrm>
            <a:custGeom>
              <a:rect b="b" l="l" r="r" t="t"/>
              <a:pathLst>
                <a:path extrusionOk="0" h="406" w="287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5" name="Google Shape;435;p35"/>
            <p:cNvSpPr/>
            <p:nvPr/>
          </p:nvSpPr>
          <p:spPr>
            <a:xfrm>
              <a:off x="3500312" y="2305344"/>
              <a:ext cx="10428" cy="13966"/>
            </a:xfrm>
            <a:custGeom>
              <a:rect b="b" l="l" r="r" t="t"/>
              <a:pathLst>
                <a:path extrusionOk="0" h="406" w="31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6" name="Google Shape;436;p35"/>
            <p:cNvSpPr/>
            <p:nvPr/>
          </p:nvSpPr>
          <p:spPr>
            <a:xfrm>
              <a:off x="3546769" y="2275038"/>
              <a:ext cx="10462" cy="13966"/>
            </a:xfrm>
            <a:custGeom>
              <a:rect b="b" l="l" r="r" t="t"/>
              <a:pathLst>
                <a:path extrusionOk="0" h="406" w="311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7" name="Google Shape;437;p35"/>
            <p:cNvSpPr/>
            <p:nvPr/>
          </p:nvSpPr>
          <p:spPr>
            <a:xfrm>
              <a:off x="3420989" y="2260280"/>
              <a:ext cx="27282" cy="9873"/>
            </a:xfrm>
            <a:custGeom>
              <a:rect b="b" l="l" r="r" t="t"/>
              <a:pathLst>
                <a:path extrusionOk="0" h="287" w="811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8" name="Google Shape;438;p35"/>
            <p:cNvSpPr/>
            <p:nvPr/>
          </p:nvSpPr>
          <p:spPr>
            <a:xfrm>
              <a:off x="3420989" y="2279131"/>
              <a:ext cx="47298" cy="10698"/>
            </a:xfrm>
            <a:custGeom>
              <a:rect b="b" l="l" r="r" t="t"/>
              <a:pathLst>
                <a:path extrusionOk="0" h="311" w="1406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39" name="Google Shape;439;p35"/>
            <p:cNvSpPr/>
            <p:nvPr/>
          </p:nvSpPr>
          <p:spPr>
            <a:xfrm>
              <a:off x="3640490" y="2276689"/>
              <a:ext cx="31285" cy="54077"/>
            </a:xfrm>
            <a:custGeom>
              <a:rect b="b" l="l" r="r" t="t"/>
              <a:pathLst>
                <a:path extrusionOk="0" h="1572" w="93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0" name="Google Shape;440;p35"/>
            <p:cNvSpPr/>
            <p:nvPr/>
          </p:nvSpPr>
          <p:spPr>
            <a:xfrm>
              <a:off x="3614049" y="2260280"/>
              <a:ext cx="84167" cy="86069"/>
            </a:xfrm>
            <a:custGeom>
              <a:rect b="b" l="l" r="r" t="t"/>
              <a:pathLst>
                <a:path extrusionOk="0" h="2502" w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1" name="Google Shape;441;p35"/>
            <p:cNvSpPr/>
            <p:nvPr/>
          </p:nvSpPr>
          <p:spPr>
            <a:xfrm>
              <a:off x="3610046" y="2358595"/>
              <a:ext cx="45717" cy="10698"/>
            </a:xfrm>
            <a:custGeom>
              <a:rect b="b" l="l" r="r" t="t"/>
              <a:pathLst>
                <a:path extrusionOk="0" h="311" w="1359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2" name="Google Shape;442;p35"/>
            <p:cNvSpPr/>
            <p:nvPr/>
          </p:nvSpPr>
          <p:spPr>
            <a:xfrm>
              <a:off x="3671742" y="2379063"/>
              <a:ext cx="25667" cy="9873"/>
            </a:xfrm>
            <a:custGeom>
              <a:rect b="b" l="l" r="r" t="t"/>
              <a:pathLst>
                <a:path extrusionOk="0" h="287" w="763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3" name="Google Shape;443;p35"/>
            <p:cNvSpPr/>
            <p:nvPr/>
          </p:nvSpPr>
          <p:spPr>
            <a:xfrm>
              <a:off x="3610046" y="2379063"/>
              <a:ext cx="28897" cy="9873"/>
            </a:xfrm>
            <a:custGeom>
              <a:rect b="b" l="l" r="r" t="t"/>
              <a:pathLst>
                <a:path extrusionOk="0" h="287" w="859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4" name="Google Shape;444;p35"/>
            <p:cNvSpPr/>
            <p:nvPr/>
          </p:nvSpPr>
          <p:spPr>
            <a:xfrm>
              <a:off x="3646108" y="2379063"/>
              <a:ext cx="19276" cy="9873"/>
            </a:xfrm>
            <a:custGeom>
              <a:rect b="b" l="l" r="r" t="t"/>
              <a:pathLst>
                <a:path extrusionOk="0" h="287" w="573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5" name="Google Shape;445;p35"/>
            <p:cNvSpPr/>
            <p:nvPr/>
          </p:nvSpPr>
          <p:spPr>
            <a:xfrm>
              <a:off x="3610046" y="2398740"/>
              <a:ext cx="86556" cy="10664"/>
            </a:xfrm>
            <a:custGeom>
              <a:rect b="b" l="l" r="r" t="t"/>
              <a:pathLst>
                <a:path extrusionOk="0" h="310" w="2573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46" name="Google Shape;446;p35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РЕШЕНИЕ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6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3" name="Google Shape;453;p36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4" name="Google Shape;454;p3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55" name="Google Shape;455;p36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200">
                <a:solidFill>
                  <a:srgbClr val="2E124A"/>
                </a:solidFill>
              </a:rPr>
              <a:t>Видно, кто готов к смене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700">
                <a:solidFill>
                  <a:srgbClr val="2E124A"/>
                </a:solidFill>
              </a:rPr>
              <a:t>Проверяет каждый шаг, объясняет каждый балл словами памятки и даёт прогноз к аттестации.</a:t>
            </a:r>
            <a:endParaRPr/>
          </a:p>
        </p:txBody>
      </p:sp>
      <p:sp>
        <p:nvSpPr>
          <p:cNvPr id="456" name="Google Shape;456;p36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РЕШЕНИЕ</a:t>
            </a:r>
            <a:endParaRPr/>
          </a:p>
        </p:txBody>
      </p:sp>
      <p:pic>
        <p:nvPicPr>
          <p:cNvPr descr="image.png" id="457" name="Google Shape;457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/>
          <p:nvPr/>
        </p:nvSpPr>
        <p:spPr>
          <a:xfrm>
            <a:off x="5340096" y="1396603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59" name="Google Shape;459;p36"/>
          <p:cNvGrpSpPr/>
          <p:nvPr/>
        </p:nvGrpSpPr>
        <p:grpSpPr>
          <a:xfrm>
            <a:off x="5760410" y="1749715"/>
            <a:ext cx="738604" cy="694944"/>
            <a:chOff x="4754041" y="2231625"/>
            <a:chExt cx="340538" cy="322810"/>
          </a:xfrm>
        </p:grpSpPr>
        <p:sp>
          <p:nvSpPr>
            <p:cNvPr id="460" name="Google Shape;460;p36"/>
            <p:cNvSpPr/>
            <p:nvPr/>
          </p:nvSpPr>
          <p:spPr>
            <a:xfrm>
              <a:off x="4754041" y="2231625"/>
              <a:ext cx="340538" cy="322810"/>
            </a:xfrm>
            <a:custGeom>
              <a:rect b="b" l="l" r="r" t="t"/>
              <a:pathLst>
                <a:path extrusionOk="0" h="9384" w="10123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1" name="Google Shape;461;p36"/>
            <p:cNvSpPr/>
            <p:nvPr/>
          </p:nvSpPr>
          <p:spPr>
            <a:xfrm>
              <a:off x="5011219" y="2437234"/>
              <a:ext cx="45683" cy="9873"/>
            </a:xfrm>
            <a:custGeom>
              <a:rect b="b" l="l" r="r" t="t"/>
              <a:pathLst>
                <a:path extrusionOk="0" h="287" w="1358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2" name="Google Shape;462;p36"/>
            <p:cNvSpPr/>
            <p:nvPr/>
          </p:nvSpPr>
          <p:spPr>
            <a:xfrm>
              <a:off x="4976772" y="2455259"/>
              <a:ext cx="80130" cy="10698"/>
            </a:xfrm>
            <a:custGeom>
              <a:rect b="b" l="l" r="r" t="t"/>
              <a:pathLst>
                <a:path extrusionOk="0" h="311" w="2382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3" name="Google Shape;463;p36"/>
            <p:cNvSpPr/>
            <p:nvPr/>
          </p:nvSpPr>
          <p:spPr>
            <a:xfrm>
              <a:off x="4976772" y="2302902"/>
              <a:ext cx="16854" cy="10664"/>
            </a:xfrm>
            <a:custGeom>
              <a:rect b="b" l="l" r="r" t="t"/>
              <a:pathLst>
                <a:path extrusionOk="0" h="310" w="501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4" name="Google Shape;464;p36"/>
            <p:cNvSpPr/>
            <p:nvPr/>
          </p:nvSpPr>
          <p:spPr>
            <a:xfrm>
              <a:off x="5001598" y="2302902"/>
              <a:ext cx="55304" cy="10664"/>
            </a:xfrm>
            <a:custGeom>
              <a:rect b="b" l="l" r="r" t="t"/>
              <a:pathLst>
                <a:path extrusionOk="0" h="310" w="1644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5" name="Google Shape;465;p36"/>
            <p:cNvSpPr/>
            <p:nvPr/>
          </p:nvSpPr>
          <p:spPr>
            <a:xfrm>
              <a:off x="4976772" y="2321719"/>
              <a:ext cx="80130" cy="9873"/>
            </a:xfrm>
            <a:custGeom>
              <a:rect b="b" l="l" r="r" t="t"/>
              <a:pathLst>
                <a:path extrusionOk="0" h="287" w="2382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6" name="Google Shape;466;p36"/>
            <p:cNvSpPr/>
            <p:nvPr/>
          </p:nvSpPr>
          <p:spPr>
            <a:xfrm>
              <a:off x="4976772" y="2352025"/>
              <a:ext cx="80130" cy="65601"/>
            </a:xfrm>
            <a:custGeom>
              <a:rect b="b" l="l" r="r" t="t"/>
              <a:pathLst>
                <a:path extrusionOk="0" h="1907" w="2382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7" name="Google Shape;467;p36"/>
            <p:cNvSpPr/>
            <p:nvPr/>
          </p:nvSpPr>
          <p:spPr>
            <a:xfrm>
              <a:off x="4789296" y="2294680"/>
              <a:ext cx="168267" cy="172069"/>
            </a:xfrm>
            <a:custGeom>
              <a:rect b="b" l="l" r="r" t="t"/>
              <a:pathLst>
                <a:path extrusionOk="0" h="5002" w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8" name="Google Shape;468;p36"/>
            <p:cNvSpPr/>
            <p:nvPr/>
          </p:nvSpPr>
          <p:spPr>
            <a:xfrm>
              <a:off x="4794107" y="2453402"/>
              <a:ext cx="24086" cy="17475"/>
            </a:xfrm>
            <a:custGeom>
              <a:rect b="b" l="l" r="r" t="t"/>
              <a:pathLst>
                <a:path extrusionOk="0" h="508" w="716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69" name="Google Shape;469;p36"/>
            <p:cNvSpPr/>
            <p:nvPr/>
          </p:nvSpPr>
          <p:spPr>
            <a:xfrm>
              <a:off x="4883051" y="2382744"/>
              <a:ext cx="24053" cy="16856"/>
            </a:xfrm>
            <a:custGeom>
              <a:rect b="b" l="l" r="r" t="t"/>
              <a:pathLst>
                <a:path extrusionOk="0" h="490" w="715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70" name="Google Shape;470;p36"/>
            <p:cNvSpPr/>
            <p:nvPr/>
          </p:nvSpPr>
          <p:spPr>
            <a:xfrm>
              <a:off x="4935899" y="2304106"/>
              <a:ext cx="24086" cy="16856"/>
            </a:xfrm>
            <a:custGeom>
              <a:rect b="b" l="l" r="r" t="t"/>
              <a:pathLst>
                <a:path extrusionOk="0" h="490" w="716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7"/>
          <p:cNvSpPr/>
          <p:nvPr/>
        </p:nvSpPr>
        <p:spPr>
          <a:xfrm>
            <a:off x="2255520" y="2926080"/>
            <a:ext cx="7680960" cy="2651760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6" name="Google Shape;476;p37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7" name="Google Shape;477;p3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78" name="Google Shape;478;p37"/>
          <p:cNvSpPr/>
          <p:nvPr>
            <p:ph idx="1" type="body"/>
          </p:nvPr>
        </p:nvSpPr>
        <p:spPr>
          <a:xfrm>
            <a:off x="2712720" y="2926080"/>
            <a:ext cx="6766560" cy="265176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b="1" lang="ru-RU" sz="3200">
                <a:solidFill>
                  <a:srgbClr val="2E124A"/>
                </a:solidFill>
              </a:rPr>
              <a:t>Ставится где угодно, без интернета</a:t>
            </a:r>
            <a:endParaRPr>
              <a:solidFill>
                <a:schemeClr val="dk1"/>
              </a:solidFill>
            </a:endParaRPr>
          </a:p>
          <a:p>
            <a:pPr indent="-228600" lvl="0" marL="45720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SzPts val="1400"/>
              <a:buNone/>
            </a:pPr>
            <a:r>
              <a:rPr b="0" lang="ru-RU" sz="1700">
                <a:solidFill>
                  <a:srgbClr val="2E124A"/>
                </a:solidFill>
              </a:rPr>
              <a:t>Один обычный сервер без видеокарты, всё в закрытом контуре. Переносится на флешке, тиражируется на регион.</a:t>
            </a:r>
            <a:endParaRPr/>
          </a:p>
        </p:txBody>
      </p:sp>
      <p:sp>
        <p:nvSpPr>
          <p:cNvPr id="479" name="Google Shape;479;p37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РЕШЕНИЕ</a:t>
            </a:r>
            <a:endParaRPr/>
          </a:p>
        </p:txBody>
      </p:sp>
      <p:pic>
        <p:nvPicPr>
          <p:cNvPr descr="image.png" id="480" name="Google Shape;48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989320"/>
            <a:ext cx="1038885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37"/>
          <p:cNvSpPr/>
          <p:nvPr/>
        </p:nvSpPr>
        <p:spPr>
          <a:xfrm>
            <a:off x="5340096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82" name="Google Shape;482;p37"/>
          <p:cNvGrpSpPr/>
          <p:nvPr/>
        </p:nvGrpSpPr>
        <p:grpSpPr>
          <a:xfrm>
            <a:off x="5710322" y="1722647"/>
            <a:ext cx="738531" cy="731528"/>
            <a:chOff x="4078718" y="2222819"/>
            <a:chExt cx="340504" cy="339803"/>
          </a:xfrm>
        </p:grpSpPr>
        <p:sp>
          <p:nvSpPr>
            <p:cNvPr id="483" name="Google Shape;483;p37"/>
            <p:cNvSpPr/>
            <p:nvPr/>
          </p:nvSpPr>
          <p:spPr>
            <a:xfrm>
              <a:off x="4267775" y="2311674"/>
              <a:ext cx="17661" cy="13382"/>
            </a:xfrm>
            <a:custGeom>
              <a:rect b="b" l="l" r="r" t="t"/>
              <a:pathLst>
                <a:path extrusionOk="0" h="389" w="525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4" name="Google Shape;484;p37"/>
            <p:cNvSpPr/>
            <p:nvPr/>
          </p:nvSpPr>
          <p:spPr>
            <a:xfrm>
              <a:off x="4257347" y="2292719"/>
              <a:ext cx="16080" cy="15927"/>
            </a:xfrm>
            <a:custGeom>
              <a:rect b="b" l="l" r="r" t="t"/>
              <a:pathLst>
                <a:path extrusionOk="0" h="463" w="478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5" name="Google Shape;485;p37"/>
            <p:cNvSpPr/>
            <p:nvPr/>
          </p:nvSpPr>
          <p:spPr>
            <a:xfrm>
              <a:off x="4271778" y="2333208"/>
              <a:ext cx="17661" cy="11490"/>
            </a:xfrm>
            <a:custGeom>
              <a:rect b="b" l="l" r="r" t="t"/>
              <a:pathLst>
                <a:path extrusionOk="0" h="334" w="525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6" name="Google Shape;486;p37"/>
            <p:cNvSpPr/>
            <p:nvPr/>
          </p:nvSpPr>
          <p:spPr>
            <a:xfrm>
              <a:off x="4078718" y="2222819"/>
              <a:ext cx="340504" cy="339803"/>
            </a:xfrm>
            <a:custGeom>
              <a:rect b="b" l="l" r="r" t="t"/>
              <a:pathLst>
                <a:path extrusionOk="0" h="9878" w="10122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7" name="Google Shape;487;p37"/>
            <p:cNvSpPr/>
            <p:nvPr/>
          </p:nvSpPr>
          <p:spPr>
            <a:xfrm>
              <a:off x="4123561" y="2296744"/>
              <a:ext cx="170689" cy="161818"/>
            </a:xfrm>
            <a:custGeom>
              <a:rect b="b" l="l" r="r" t="t"/>
              <a:pathLst>
                <a:path extrusionOk="0" h="4704" w="507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8" name="Google Shape;488;p37"/>
            <p:cNvSpPr/>
            <p:nvPr/>
          </p:nvSpPr>
          <p:spPr>
            <a:xfrm>
              <a:off x="4130793" y="2276448"/>
              <a:ext cx="47298" cy="25662"/>
            </a:xfrm>
            <a:custGeom>
              <a:rect b="b" l="l" r="r" t="t"/>
              <a:pathLst>
                <a:path extrusionOk="0" h="746" w="140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89" name="Google Shape;489;p37"/>
            <p:cNvSpPr/>
            <p:nvPr/>
          </p:nvSpPr>
          <p:spPr>
            <a:xfrm>
              <a:off x="4137992" y="2301423"/>
              <a:ext cx="25667" cy="16237"/>
            </a:xfrm>
            <a:custGeom>
              <a:rect b="b" l="l" r="r" t="t"/>
              <a:pathLst>
                <a:path extrusionOk="0" h="472" w="763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90" name="Google Shape;490;p37"/>
            <p:cNvSpPr/>
            <p:nvPr/>
          </p:nvSpPr>
          <p:spPr>
            <a:xfrm>
              <a:off x="4161237" y="2507685"/>
              <a:ext cx="35288" cy="9873"/>
            </a:xfrm>
            <a:custGeom>
              <a:rect b="b" l="l" r="r" t="t"/>
              <a:pathLst>
                <a:path extrusionOk="0" h="287" w="1049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91" name="Google Shape;491;p37"/>
            <p:cNvSpPr/>
            <p:nvPr/>
          </p:nvSpPr>
          <p:spPr>
            <a:xfrm>
              <a:off x="4161237" y="2525711"/>
              <a:ext cx="81745" cy="10698"/>
            </a:xfrm>
            <a:custGeom>
              <a:rect b="b" l="l" r="r" t="t"/>
              <a:pathLst>
                <a:path extrusionOk="0" h="311" w="243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8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38"/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p38"/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9" name="Google Shape;499;p38"/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0" name="Google Shape;500;p38"/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1" name="Google Shape;501;p3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502" name="Google Shape;502;p38"/>
          <p:cNvSpPr txBox="1"/>
          <p:nvPr>
            <p:ph idx="1" type="body"/>
          </p:nvPr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Диспетчер ДДС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03" name="Google Shape;503;p38"/>
          <p:cNvSpPr txBox="1"/>
          <p:nvPr>
            <p:ph idx="2" type="body"/>
          </p:nvPr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Принимает карточку от 112 в норматив и ведёт статусы.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Звонит руководителям и бригаде, принимает доклады.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04" name="Google Shape;504;p38"/>
          <p:cNvSpPr txBox="1"/>
          <p:nvPr>
            <p:ph idx="3" type="body"/>
          </p:nvPr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Виртуальный телефон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05" name="Google Shape;505;p38"/>
          <p:cNvSpPr txBox="1"/>
          <p:nvPr>
            <p:ph idx="4" type="body"/>
          </p:nvPr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Зелёный кружок: набор номера, справочник до 10 номеров.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Собеседники торопят, уточняют, докладывают с места.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06" name="Google Shape;506;p38"/>
          <p:cNvSpPr txBox="1"/>
          <p:nvPr>
            <p:ph idx="5" type="body"/>
          </p:nvPr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Преподаватель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07" name="Google Shape;507;p38"/>
          <p:cNvSpPr txBox="1"/>
          <p:nvPr>
            <p:ph idx="6" type="body"/>
          </p:nvPr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Ведёт занятия, видит группу вживую.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Задания пишет ИИ, отчёты и советы по каждому.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08" name="Google Shape;508;p38"/>
          <p:cNvSpPr txBox="1"/>
          <p:nvPr>
            <p:ph idx="7" type="body"/>
          </p:nvPr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Администратор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509" name="Google Shape;509;p38"/>
          <p:cNvSpPr txBox="1"/>
          <p:nvPr>
            <p:ph idx="8" type="body"/>
          </p:nvPr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Пользователи и состояние сервисов.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Журнал аудита, резервные копии.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10" name="Google Shape;510;p38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ЧТО УМЕЕТ</a:t>
            </a:r>
            <a:endParaRPr/>
          </a:p>
        </p:txBody>
      </p:sp>
      <p:sp>
        <p:nvSpPr>
          <p:cNvPr id="511" name="Google Shape;511;p38"/>
          <p:cNvSpPr txBox="1"/>
          <p:nvPr>
            <p:ph idx="16" type="body"/>
          </p:nvPr>
        </p:nvSpPr>
        <p:spPr>
          <a:xfrm>
            <a:off x="520913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01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512" name="Google Shape;512;p38"/>
          <p:cNvSpPr txBox="1"/>
          <p:nvPr>
            <p:ph idx="17" type="body"/>
          </p:nvPr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02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513" name="Google Shape;513;p38"/>
          <p:cNvSpPr txBox="1"/>
          <p:nvPr>
            <p:ph idx="18" type="body"/>
          </p:nvPr>
        </p:nvSpPr>
        <p:spPr>
          <a:xfrm>
            <a:off x="6456363" y="1766043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03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514" name="Google Shape;514;p38"/>
          <p:cNvSpPr txBox="1"/>
          <p:nvPr>
            <p:ph idx="19" type="body"/>
          </p:nvPr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04</a:t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54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КАК ПРОХОДИТ ЗАНЯТИЕ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721" name="Google Shape;721;p54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22" name="Rounded Rectangle 721"/>
          <p:cNvSpPr/>
          <p:nvPr/>
        </p:nvSpPr>
        <p:spPr>
          <a:xfrm>
            <a:off x="457200" y="19202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1234439" y="1600200"/>
            <a:ext cx="548640" cy="548640"/>
          </a:xfrm>
          <a:prstGeom prst="ellipse">
            <a:avLst/>
          </a:prstGeom>
          <a:solidFill>
            <a:srgbClr val="FF1F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24" name="TextBox 723"/>
          <p:cNvSpPr txBox="1"/>
          <p:nvPr/>
        </p:nvSpPr>
        <p:spPr>
          <a:xfrm>
            <a:off x="548640" y="228600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Преподаватель создаёт занятие</a:t>
            </a:r>
          </a:p>
        </p:txBody>
      </p:sp>
      <p:sp>
        <p:nvSpPr>
          <p:cNvPr id="725" name="TextBox 724"/>
          <p:cNvSpPr txBox="1"/>
          <p:nvPr/>
        </p:nvSpPr>
        <p:spPr>
          <a:xfrm>
            <a:off x="548640" y="3154680"/>
            <a:ext cx="192023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Группа, сложность и галочка «Задания формирует ИИ».</a:t>
            </a:r>
          </a:p>
        </p:txBody>
      </p:sp>
      <p:cxnSp>
        <p:nvCxnSpPr>
          <p:cNvPr id="726" name="Connector 725"/>
          <p:cNvCxnSpPr/>
          <p:nvPr/>
        </p:nvCxnSpPr>
        <p:spPr>
          <a:xfrm>
            <a:off x="2578608" y="3291840"/>
            <a:ext cx="146304" cy="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Rounded Rectangle 726"/>
          <p:cNvSpPr/>
          <p:nvPr/>
        </p:nvSpPr>
        <p:spPr>
          <a:xfrm>
            <a:off x="2743200" y="19202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3520440" y="1600200"/>
            <a:ext cx="548640" cy="548640"/>
          </a:xfrm>
          <a:prstGeom prst="ellipse">
            <a:avLst/>
          </a:prstGeom>
          <a:solidFill>
            <a:srgbClr val="FF1F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29" name="TextBox 728"/>
          <p:cNvSpPr txBox="1"/>
          <p:nvPr/>
        </p:nvSpPr>
        <p:spPr>
          <a:xfrm>
            <a:off x="2834640" y="228600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ИИ пишет карточки</a:t>
            </a:r>
          </a:p>
        </p:txBody>
      </p:sp>
      <p:sp>
        <p:nvSpPr>
          <p:cNvPr id="730" name="TextBox 729"/>
          <p:cNvSpPr txBox="1"/>
          <p:nvPr/>
        </p:nvSpPr>
        <p:spPr>
          <a:xfrm>
            <a:off x="2834640" y="3154680"/>
            <a:ext cx="192023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Каждому свои. На сложности 2 и 3 в карточке ошибки оператора 112.</a:t>
            </a:r>
          </a:p>
        </p:txBody>
      </p:sp>
      <p:cxnSp>
        <p:nvCxnSpPr>
          <p:cNvPr id="731" name="Connector 730"/>
          <p:cNvCxnSpPr/>
          <p:nvPr/>
        </p:nvCxnSpPr>
        <p:spPr>
          <a:xfrm>
            <a:off x="4864607" y="3291840"/>
            <a:ext cx="146305" cy="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2" name="Rounded Rectangle 731"/>
          <p:cNvSpPr/>
          <p:nvPr/>
        </p:nvSpPr>
        <p:spPr>
          <a:xfrm>
            <a:off x="5029200" y="19202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5806440" y="1600200"/>
            <a:ext cx="548640" cy="548640"/>
          </a:xfrm>
          <a:prstGeom prst="ellipse">
            <a:avLst/>
          </a:prstGeom>
          <a:solidFill>
            <a:srgbClr val="FF1F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34" name="TextBox 733"/>
          <p:cNvSpPr txBox="1"/>
          <p:nvPr/>
        </p:nvSpPr>
        <p:spPr>
          <a:xfrm>
            <a:off x="5120640" y="228600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Диспетчер принимает карточку</a:t>
            </a:r>
          </a:p>
        </p:txBody>
      </p:sp>
      <p:sp>
        <p:nvSpPr>
          <p:cNvPr id="735" name="TextBox 734"/>
          <p:cNvSpPr txBox="1"/>
          <p:nvPr/>
        </p:nvSpPr>
        <p:spPr>
          <a:xfrm>
            <a:off x="5120640" y="3154680"/>
            <a:ext cx="192023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Экран как в АРМ-112. На решение 30 секунд.</a:t>
            </a:r>
          </a:p>
        </p:txBody>
      </p:sp>
      <p:cxnSp>
        <p:nvCxnSpPr>
          <p:cNvPr id="736" name="Connector 735"/>
          <p:cNvCxnSpPr/>
          <p:nvPr/>
        </p:nvCxnSpPr>
        <p:spPr>
          <a:xfrm>
            <a:off x="7150607" y="3291840"/>
            <a:ext cx="146305" cy="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7" name="Rounded Rectangle 736"/>
          <p:cNvSpPr/>
          <p:nvPr/>
        </p:nvSpPr>
        <p:spPr>
          <a:xfrm>
            <a:off x="7315200" y="19202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8092440" y="1600200"/>
            <a:ext cx="548640" cy="548640"/>
          </a:xfrm>
          <a:prstGeom prst="ellipse">
            <a:avLst/>
          </a:prstGeom>
          <a:solidFill>
            <a:srgbClr val="FF1F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39" name="TextBox 738"/>
          <p:cNvSpPr txBox="1"/>
          <p:nvPr/>
        </p:nvSpPr>
        <p:spPr>
          <a:xfrm>
            <a:off x="7406640" y="228600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Звонит по телефону</a:t>
            </a:r>
          </a:p>
        </p:txBody>
      </p:sp>
      <p:sp>
        <p:nvSpPr>
          <p:cNvPr id="740" name="TextBox 739"/>
          <p:cNvSpPr txBox="1"/>
          <p:nvPr/>
        </p:nvSpPr>
        <p:spPr>
          <a:xfrm>
            <a:off x="7406640" y="3154680"/>
            <a:ext cx="192023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Начальнику бригады, руководителю. Бригада перезванивает с докладами.</a:t>
            </a:r>
          </a:p>
        </p:txBody>
      </p:sp>
      <p:cxnSp>
        <p:nvCxnSpPr>
          <p:cNvPr id="741" name="Connector 740"/>
          <p:cNvCxnSpPr/>
          <p:nvPr/>
        </p:nvCxnSpPr>
        <p:spPr>
          <a:xfrm>
            <a:off x="9436608" y="3291840"/>
            <a:ext cx="146304" cy="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2" name="Rounded Rectangle 741"/>
          <p:cNvSpPr/>
          <p:nvPr/>
        </p:nvSpPr>
        <p:spPr>
          <a:xfrm>
            <a:off x="9601200" y="19202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10378440" y="1600200"/>
            <a:ext cx="548640" cy="548640"/>
          </a:xfrm>
          <a:prstGeom prst="ellipse">
            <a:avLst/>
          </a:prstGeom>
          <a:solidFill>
            <a:srgbClr val="FF1F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44" name="TextBox 743"/>
          <p:cNvSpPr txBox="1"/>
          <p:nvPr/>
        </p:nvSpPr>
        <p:spPr>
          <a:xfrm>
            <a:off x="9692640" y="228600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ИИ оценивает и советует</a:t>
            </a:r>
          </a:p>
        </p:txBody>
      </p:sp>
      <p:sp>
        <p:nvSpPr>
          <p:cNvPr id="745" name="TextBox 744"/>
          <p:cNvSpPr txBox="1"/>
          <p:nvPr/>
        </p:nvSpPr>
        <p:spPr>
          <a:xfrm>
            <a:off x="9692640" y="3154680"/>
            <a:ext cx="192023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Балл, ошибки словами памятки, советы на следующее занятие.</a:t>
            </a:r>
          </a:p>
        </p:txBody>
      </p:sp>
      <p:sp>
        <p:nvSpPr>
          <p:cNvPr id="746" name="TextBox 745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2D1451"/>
                </a:solidFill>
              </a:rPr>
              <a:t>Преподаватель только запускает занятие. Всё остальное работает без интернета, на обычном сервере без видеокарты.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3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ВХОД: ЛОГИНЫ НА ГЛАВНОЙ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70" name="Google Shape;570;p43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71" name="Google Shape;571;p43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Эксперт открывает ссылку и сразу заходит под любой ролью: таблица логинов и паролей прямо на странице входа.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Открытая карточка вызова.jpg" id="572" name="Google Shape;572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78024" y="1490757"/>
            <a:ext cx="7232904" cy="4068508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9829800" y="18288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Логины и пароли по ролям, как просил заказчик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Connector 573"/>
          <p:cNvCxnSpPr/>
          <p:nvPr/>
        </p:nvCxnSpPr>
        <p:spPr>
          <a:xfrm flipH="1">
            <a:off x="8128730" y="2103120"/>
            <a:ext cx="1701070" cy="1738331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Google Shape;573;p43"/>
          <p:cNvSpPr txBox="1"/>
          <p:nvPr/>
        </p:nvSpPr>
        <p:spPr>
          <a:xfrm>
            <a:off x="9829800" y="384048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«Войти» в один клик: преподаватель, обучаемый, администратор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5" name="Connector 574"/>
          <p:cNvCxnSpPr/>
          <p:nvPr/>
        </p:nvCxnSpPr>
        <p:spPr>
          <a:xfrm flipH="1">
            <a:off x="9168460" y="4114800"/>
            <a:ext cx="661340" cy="88296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8" name="Google Shape;573;p43"/>
          <p:cNvSpPr txBox="1"/>
          <p:nvPr/>
        </p:nvSpPr>
        <p:spPr>
          <a:xfrm>
            <a:off x="109728" y="18288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Вход оформлен как в АРМ-112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6" name="Connector 575"/>
          <p:cNvCxnSpPr/>
          <p:nvPr/>
        </p:nvCxnSpPr>
        <p:spPr>
          <a:xfrm>
            <a:off x="2395728" y="2103120"/>
            <a:ext cx="4015187" cy="653395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39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РЕЕСТР ПРОИСШЕСТВИЙ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20" name="Google Shape;520;p39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21" name="Google Shape;521;p39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Список вызовов, колонки и статусы как в боевом АРМ-112. Диспетчер сразу в своей среде.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Регистрация проишествий.jpg" id="522" name="Google Shape;52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82088" y="1490472"/>
            <a:ext cx="723392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39"/>
          <p:cNvSpPr txBox="1"/>
          <p:nvPr/>
        </p:nvSpPr>
        <p:spPr>
          <a:xfrm>
            <a:off x="109728" y="173736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Поиск и фильтры по вызовам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4" name="Google Shape;524;p39"/>
          <p:cNvCxnSpPr/>
          <p:nvPr/>
        </p:nvCxnSpPr>
        <p:spPr>
          <a:xfrm flipH="1" rot="10800000">
            <a:off x="2395728" y="1978761"/>
            <a:ext cx="2111857" cy="170079"/>
          </a:xfrm>
          <a:prstGeom prst="straightConnector1">
            <a:avLst/>
          </a:prstGeom>
          <a:noFill/>
          <a:ln cap="flat" cmpd="sng" w="31750">
            <a:solidFill>
              <a:srgbClr val="FF1F5A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25" name="Google Shape;525;p39"/>
          <p:cNvSpPr txBox="1"/>
          <p:nvPr/>
        </p:nvSpPr>
        <p:spPr>
          <a:xfrm>
            <a:off x="109728" y="3108960"/>
            <a:ext cx="22860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Список вызовов как в АРМ</a:t>
            </a:r>
            <a:r>
              <a:rPr b="1" lang="ru-RU" sz="1250">
                <a:solidFill>
                  <a:srgbClr val="FFFFFF"/>
                </a:solidFill>
              </a:rPr>
              <a:t> диспетчера ДДС </a:t>
            </a:r>
            <a:endParaRPr b="1" sz="1250">
              <a:solidFill>
                <a:srgbClr val="FFFF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t/>
            </a:r>
            <a:endParaRPr b="1" sz="1250">
              <a:solidFill>
                <a:srgbClr val="FFFFFF"/>
              </a:solidFill>
            </a:endParaRPr>
          </a:p>
        </p:txBody>
      </p:sp>
      <p:cxnSp>
        <p:nvCxnSpPr>
          <p:cNvPr id="526" name="Google Shape;526;p39"/>
          <p:cNvCxnSpPr/>
          <p:nvPr/>
        </p:nvCxnSpPr>
        <p:spPr>
          <a:xfrm flipH="1" rot="10800000">
            <a:off x="2395728" y="2873959"/>
            <a:ext cx="2473553" cy="646481"/>
          </a:xfrm>
          <a:prstGeom prst="straightConnector1">
            <a:avLst/>
          </a:prstGeom>
          <a:noFill/>
          <a:ln cap="flat" cmpd="sng" w="31750">
            <a:solidFill>
              <a:srgbClr val="FF1F5A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27" name="Google Shape;527;p39"/>
          <p:cNvSpPr txBox="1"/>
          <p:nvPr/>
        </p:nvSpPr>
        <p:spPr>
          <a:xfrm>
            <a:off x="9825736" y="2194560"/>
            <a:ext cx="23174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Панель тренажёра: служба, норматив, подсказки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8" name="Google Shape;528;p39"/>
          <p:cNvCxnSpPr/>
          <p:nvPr/>
        </p:nvCxnSpPr>
        <p:spPr>
          <a:xfrm flipH="1">
            <a:off x="9209633" y="2606040"/>
            <a:ext cx="616103" cy="105156"/>
          </a:xfrm>
          <a:prstGeom prst="straightConnector1">
            <a:avLst/>
          </a:prstGeom>
          <a:noFill/>
          <a:ln cap="flat" cmpd="sng" w="31750">
            <a:solidFill>
              <a:srgbClr val="FF1F5A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40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ОДИН В ОДИН С ЖИВОЙ СИСТЕМОЙ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34" name="Google Shape;534;p40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35" name="Google Shape;535;p40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Слева живая система ГБУ «Система 112», справа наш тренажёр. Интерфейс повторён один в один.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mpare.png" id="536" name="Google Shape;53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387" y="1554480"/>
            <a:ext cx="11153320" cy="37856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3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КАРТОЧКА ПРОИСШЕСТВИЯ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70" name="Google Shape;570;p43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71" name="Google Shape;571;p43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Карточка пришла от оператора 112, редактировать её нельзя, как в жизни. Диспетчер проверяет данные, принимает решение и ведёт статусы.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Открытая карточка вызова.jpg" id="572" name="Google Shape;572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78024" y="1490757"/>
            <a:ext cx="7232904" cy="4068508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16002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Данные от 112: заявитель, адрес, описание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Connector 573"/>
          <p:cNvCxnSpPr/>
          <p:nvPr/>
        </p:nvCxnSpPr>
        <p:spPr>
          <a:xfrm>
            <a:off x="2395728" y="1874519"/>
            <a:ext cx="1438465" cy="701174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Google Shape;573;p43"/>
          <p:cNvSpPr txBox="1"/>
          <p:nvPr/>
        </p:nvSpPr>
        <p:spPr>
          <a:xfrm>
            <a:off x="109728" y="29718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Флажок: отметить ошибку оператора 112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5" name="Connector 574"/>
          <p:cNvCxnSpPr/>
          <p:nvPr/>
        </p:nvCxnSpPr>
        <p:spPr>
          <a:xfrm flipV="1">
            <a:off x="2395728" y="2575693"/>
            <a:ext cx="2139153" cy="670427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1" name="Google Shape;573;p43"/>
          <p:cNvSpPr txBox="1"/>
          <p:nvPr/>
        </p:nvSpPr>
        <p:spPr>
          <a:xfrm>
            <a:off x="109728" y="43434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Статусы службы и номер наряда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6" name="Connector 575"/>
          <p:cNvCxnSpPr/>
          <p:nvPr/>
        </p:nvCxnSpPr>
        <p:spPr>
          <a:xfrm flipV="1">
            <a:off x="2395728" y="4316110"/>
            <a:ext cx="1122025" cy="30161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Google Shape;573;p43"/>
          <p:cNvSpPr txBox="1"/>
          <p:nvPr/>
        </p:nvSpPr>
        <p:spPr>
          <a:xfrm>
            <a:off x="9829800" y="16002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Норматив 30 секунд на «Принята»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Connector 576"/>
          <p:cNvCxnSpPr/>
          <p:nvPr/>
        </p:nvCxnSpPr>
        <p:spPr>
          <a:xfrm flipH="1">
            <a:off x="9032843" y="1874519"/>
            <a:ext cx="796957" cy="737338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3" name="Google Shape;573;p43"/>
          <p:cNvSpPr txBox="1"/>
          <p:nvPr/>
        </p:nvSpPr>
        <p:spPr>
          <a:xfrm>
            <a:off x="9829800" y="29718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Панель тренажёра: подсказки и итог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8" name="Connector 577"/>
          <p:cNvCxnSpPr/>
          <p:nvPr/>
        </p:nvCxnSpPr>
        <p:spPr>
          <a:xfrm flipH="1" flipV="1">
            <a:off x="9032843" y="3118161"/>
            <a:ext cx="796957" cy="12795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Google Shape;573;p43"/>
          <p:cNvSpPr txBox="1"/>
          <p:nvPr/>
        </p:nvSpPr>
        <p:spPr>
          <a:xfrm>
            <a:off x="9829800" y="43434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Зелёный кружок: телефон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9" name="Connector 578"/>
          <p:cNvCxnSpPr/>
          <p:nvPr/>
        </p:nvCxnSpPr>
        <p:spPr>
          <a:xfrm flipH="1">
            <a:off x="8368320" y="4617720"/>
            <a:ext cx="1461480" cy="48948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4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ВИРТУАЛЬНЫЙ ТЕЛЕФОН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84" name="Google Shape;584;p44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85" name="Google Shape;585;p44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Зелёный кружок открывает телефон. Диспетчер набирает номер сам, слышит гудки, говорит голосом. Звонок заявителю только с разрешения преподавателя.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ЭКРАН ТЕЛЕФОНИИ  ЗВОНКА В СЛУЖБУ.jpg" id="586" name="Google Shape;586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78024" y="1490757"/>
            <a:ext cx="7232904" cy="4068508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16002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Клавиатура: номер набирается вручную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7" name="Connector 586"/>
          <p:cNvCxnSpPr/>
          <p:nvPr/>
        </p:nvCxnSpPr>
        <p:spPr>
          <a:xfrm>
            <a:off x="2395728" y="1874519"/>
            <a:ext cx="3246691" cy="1108025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2" name="Google Shape;573;p43"/>
          <p:cNvSpPr txBox="1"/>
          <p:nvPr/>
        </p:nvSpPr>
        <p:spPr>
          <a:xfrm>
            <a:off x="109728" y="29718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«Вызов»: гудки, затем ответ голосом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8" name="Connector 587"/>
          <p:cNvCxnSpPr/>
          <p:nvPr/>
        </p:nvCxnSpPr>
        <p:spPr>
          <a:xfrm>
            <a:off x="2395728" y="3246120"/>
            <a:ext cx="3246691" cy="233686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3" name="Google Shape;573;p43"/>
          <p:cNvSpPr txBox="1"/>
          <p:nvPr/>
        </p:nvSpPr>
        <p:spPr>
          <a:xfrm>
            <a:off x="109728" y="43434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Справочник: 4 роли заказчика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9" name="Connector 588"/>
          <p:cNvCxnSpPr/>
          <p:nvPr/>
        </p:nvCxnSpPr>
        <p:spPr>
          <a:xfrm flipV="1">
            <a:off x="2395728" y="4022274"/>
            <a:ext cx="3246691" cy="595446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4" name="Google Shape;573;p43"/>
          <p:cNvSpPr txBox="1"/>
          <p:nvPr/>
        </p:nvSpPr>
        <p:spPr>
          <a:xfrm>
            <a:off x="9829800" y="219456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Номера задаёт преподаватель, до 10 на службу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0" name="Connector 589"/>
          <p:cNvCxnSpPr/>
          <p:nvPr/>
        </p:nvCxnSpPr>
        <p:spPr>
          <a:xfrm flipH="1">
            <a:off x="6447080" y="2468879"/>
            <a:ext cx="3382720" cy="166640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5" name="Google Shape;573;p43"/>
          <p:cNvSpPr txBox="1"/>
          <p:nvPr/>
        </p:nvSpPr>
        <p:spPr>
          <a:xfrm>
            <a:off x="9829800" y="402336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Нажал кружок, и можно звонить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1" name="Connector 590"/>
          <p:cNvCxnSpPr/>
          <p:nvPr/>
        </p:nvCxnSpPr>
        <p:spPr>
          <a:xfrm flipH="1">
            <a:off x="8368320" y="4297680"/>
            <a:ext cx="1461480" cy="80952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45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СПРАВОЧНИК ТЕЛЕФОНОВ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98" name="Google Shape;598;p45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99" name="Google Shape;599;p45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Преподаватель сам решает, кому диспетчер сможет позвонить на занятии: должность, ФИО и короткий номер, не больше 10 на службу.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jpg" id="600" name="Google Shape;60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39212" y="1490472"/>
            <a:ext cx="6510528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173736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Выбор службы: Мосгаз, Мосводоканал, МОЭК, ЖКХ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1" name="Connector 600"/>
          <p:cNvCxnSpPr/>
          <p:nvPr/>
        </p:nvCxnSpPr>
        <p:spPr>
          <a:xfrm>
            <a:off x="2395728" y="2011679"/>
            <a:ext cx="1460754" cy="312954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4" name="Google Shape;573;p43"/>
          <p:cNvSpPr txBox="1"/>
          <p:nvPr/>
        </p:nvSpPr>
        <p:spPr>
          <a:xfrm>
            <a:off x="109728" y="32918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Руководитель, начальник отдела, начальник и специалист бригады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2" name="Connector 601"/>
          <p:cNvCxnSpPr/>
          <p:nvPr/>
        </p:nvCxnSpPr>
        <p:spPr>
          <a:xfrm flipV="1">
            <a:off x="2395728" y="3057067"/>
            <a:ext cx="1460754" cy="509093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Google Shape;573;p43"/>
          <p:cNvSpPr txBox="1"/>
          <p:nvPr/>
        </p:nvSpPr>
        <p:spPr>
          <a:xfrm>
            <a:off x="9829800" y="329184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Добавить номер, до 10 на службу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3" name="Connector 602"/>
          <p:cNvCxnSpPr/>
          <p:nvPr/>
        </p:nvCxnSpPr>
        <p:spPr>
          <a:xfrm flipH="1">
            <a:off x="8129016" y="3566160"/>
            <a:ext cx="1700784" cy="154167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6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8" name="Google Shape;768;p56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9" name="Google Shape;769;p56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70" name="Google Shape;770;p5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71" name="Google Shape;771;p56"/>
          <p:cNvSpPr txBox="1"/>
          <p:nvPr>
            <p:ph idx="1" type="body"/>
          </p:nvPr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Торопит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2" name="Google Shape;772;p56"/>
          <p:cNvSpPr txBox="1"/>
          <p:nvPr>
            <p:ph idx="2" type="body"/>
          </p:nvPr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На сложности 3 начальник бригады обрывает: «Короче, что у вас?».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Нужно коротко передать адрес, что случилось и кто пострадал.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3" name="Google Shape;773;p56"/>
          <p:cNvSpPr txBox="1"/>
          <p:nvPr>
            <p:ph idx="3" type="body"/>
          </p:nvPr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«Машин нет»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4" name="Google Shape;774;p56"/>
          <p:cNvSpPr txBox="1"/>
          <p:nvPr>
            <p:ph idx="4" type="body"/>
          </p:nvPr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Бригада не может выехать.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Нужно позвонить руководителю, чтобы снял машину с планового выезда.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5" name="Google Shape;775;p56"/>
          <p:cNvSpPr txBox="1"/>
          <p:nvPr>
            <p:ph idx="5" type="body"/>
          </p:nvPr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Осложнение на месте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6" name="Google Shape;776;p56"/>
          <p:cNvSpPr txBox="1"/>
          <p:nvPr>
            <p:ph idx="6" type="body"/>
          </p:nvPr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Специалист звонит с места: нужна ещё одна служба.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Диспетчер оповещает её и вносит статус.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7" name="Google Shape;777;p56"/>
          <p:cNvSpPr txBox="1"/>
          <p:nvPr>
            <p:ph type="title"/>
          </p:nvPr>
        </p:nvSpPr>
        <p:spPr>
          <a:xfrm>
            <a:off x="525816" y="335426"/>
            <a:ext cx="11331221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СОБЕСЕДНИКИ В ТЕЛЕФОНЕ КАК ЖИВЫЕ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78" name="Google Shape;778;p56"/>
          <p:cNvSpPr txBox="1"/>
          <p:nvPr>
            <p:ph idx="16" type="body"/>
          </p:nvPr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01</a:t>
            </a:r>
            <a:endParaRPr b="1" sz="4400">
              <a:solidFill>
                <a:schemeClr val="accent5"/>
              </a:solidFill>
            </a:endParaRPr>
          </a:p>
        </p:txBody>
      </p:sp>
      <p:sp>
        <p:nvSpPr>
          <p:cNvPr id="779" name="Google Shape;779;p56"/>
          <p:cNvSpPr txBox="1"/>
          <p:nvPr>
            <p:ph idx="17" type="body"/>
          </p:nvPr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02</a:t>
            </a:r>
            <a:endParaRPr b="1" sz="4400">
              <a:solidFill>
                <a:schemeClr val="accent5"/>
              </a:solidFill>
            </a:endParaRPr>
          </a:p>
        </p:txBody>
      </p:sp>
      <p:sp>
        <p:nvSpPr>
          <p:cNvPr id="780" name="Google Shape;780;p56"/>
          <p:cNvSpPr txBox="1"/>
          <p:nvPr>
            <p:ph idx="18" type="body"/>
          </p:nvPr>
        </p:nvSpPr>
        <p:spPr>
          <a:xfrm>
            <a:off x="8547959" y="1766043"/>
            <a:ext cx="1311031" cy="57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03</a:t>
            </a:r>
            <a:endParaRPr b="1" sz="44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49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ЗАДАНИЯ ФОРМИРУЕТ ИИ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44" name="Google Shape;644;p49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45" name="Google Shape;645;p49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Преподаватель ставит одну галочку и выбирает сложность. Карточки каждому обучаемому пишет ИИ, он же оценивает и даёт советы.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Настройки преподавателя.jpg" id="646" name="Google Shape;646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39212" y="1490472"/>
            <a:ext cx="6510528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16002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Как отвечают собеседники: оба режима без интернета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7" name="Connector 646"/>
          <p:cNvCxnSpPr/>
          <p:nvPr/>
        </p:nvCxnSpPr>
        <p:spPr>
          <a:xfrm>
            <a:off x="2395728" y="1874519"/>
            <a:ext cx="1664207" cy="112965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Google Shape;573;p43"/>
          <p:cNvSpPr txBox="1"/>
          <p:nvPr/>
        </p:nvSpPr>
        <p:spPr>
          <a:xfrm>
            <a:off x="109728" y="30632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Одна галочка: задания пишет ИИ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8" name="Connector 647"/>
          <p:cNvCxnSpPr/>
          <p:nvPr/>
        </p:nvCxnSpPr>
        <p:spPr>
          <a:xfrm>
            <a:off x="2395728" y="3337560"/>
            <a:ext cx="1521790" cy="659465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2" name="Google Shape;573;p43"/>
          <p:cNvSpPr txBox="1"/>
          <p:nvPr/>
        </p:nvSpPr>
        <p:spPr>
          <a:xfrm>
            <a:off x="109728" y="45262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Сложность: 1, 2 или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9" name="Connector 648"/>
          <p:cNvCxnSpPr/>
          <p:nvPr/>
        </p:nvCxnSpPr>
        <p:spPr>
          <a:xfrm>
            <a:off x="2395728" y="4800600"/>
            <a:ext cx="1664207" cy="665363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3" name="Google Shape;573;p43"/>
          <p:cNvSpPr txBox="1"/>
          <p:nvPr/>
        </p:nvSpPr>
        <p:spPr>
          <a:xfrm>
            <a:off x="9829800" y="329184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За какую службу работает обучаемый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0" name="Connector 649"/>
          <p:cNvCxnSpPr/>
          <p:nvPr/>
        </p:nvCxnSpPr>
        <p:spPr>
          <a:xfrm flipH="1">
            <a:off x="8251088" y="3566160"/>
            <a:ext cx="1578712" cy="1016812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3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ПРЕПОДАВАТЕЛЬ ВИДИТ ГРУППУ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570" name="Google Shape;570;p43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71" name="Google Shape;571;p43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Всё занятие на одном экране и в реальном времени: кто что делает, сколько закрыто и зачтено, средний балл.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Открытая карточка вызова.jpg" id="572" name="Google Shape;572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78024" y="2259253"/>
            <a:ext cx="7232904" cy="2531516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23774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Сводка: в работе, закончили, средний балл, просрочки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Connector 573"/>
          <p:cNvCxnSpPr/>
          <p:nvPr/>
        </p:nvCxnSpPr>
        <p:spPr>
          <a:xfrm>
            <a:off x="2395728" y="2651760"/>
            <a:ext cx="1800110" cy="602018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Google Shape;573;p43"/>
          <p:cNvSpPr txBox="1"/>
          <p:nvPr/>
        </p:nvSpPr>
        <p:spPr>
          <a:xfrm>
            <a:off x="109728" y="39319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Карточка каждого обучаемого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5" name="Connector 574"/>
          <p:cNvCxnSpPr/>
          <p:nvPr/>
        </p:nvCxnSpPr>
        <p:spPr>
          <a:xfrm flipV="1">
            <a:off x="2395728" y="3751040"/>
            <a:ext cx="1212437" cy="45520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8" name="Google Shape;573;p43"/>
          <p:cNvSpPr txBox="1"/>
          <p:nvPr/>
        </p:nvSpPr>
        <p:spPr>
          <a:xfrm>
            <a:off x="9829800" y="18288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Отчёт: PDF и Excel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6" name="Connector 575"/>
          <p:cNvCxnSpPr/>
          <p:nvPr/>
        </p:nvCxnSpPr>
        <p:spPr>
          <a:xfrm flipH="1">
            <a:off x="8399964" y="2103120"/>
            <a:ext cx="1429836" cy="621751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48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ИИ ОЦЕНИВАЕТ И ДАЁТ СОВЕТЫ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30" name="Google Shape;630;p48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31" name="Google Shape;631;p48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Каждый снятый балл объяснён словами памятки заказчика. После карточки обучаемый получает советы, по ним ИИ подбирает следующее задание.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azbor_dds.jpg" id="632" name="Google Shape;632;p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78024" y="1490757"/>
            <a:ext cx="7232904" cy="4068508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9829800" y="16002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Балл и зачёт сразу видны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3" name="Connector 632"/>
          <p:cNvCxnSpPr/>
          <p:nvPr/>
        </p:nvCxnSpPr>
        <p:spPr>
          <a:xfrm flipH="1">
            <a:off x="7676673" y="1874519"/>
            <a:ext cx="2153127" cy="646927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7" name="Google Shape;573;p43"/>
          <p:cNvSpPr txBox="1"/>
          <p:nvPr/>
        </p:nvSpPr>
        <p:spPr>
          <a:xfrm>
            <a:off x="109728" y="219456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Оценка по шагам работы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4" name="Connector 633"/>
          <p:cNvCxnSpPr/>
          <p:nvPr/>
        </p:nvCxnSpPr>
        <p:spPr>
          <a:xfrm>
            <a:off x="2395728" y="2468879"/>
            <a:ext cx="1438465" cy="558870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8" name="Google Shape;573;p43"/>
          <p:cNvSpPr txBox="1"/>
          <p:nvPr/>
        </p:nvSpPr>
        <p:spPr>
          <a:xfrm>
            <a:off x="109728" y="36576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Советы для дальнейшего обучения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5" name="Connector 634"/>
          <p:cNvCxnSpPr/>
          <p:nvPr/>
        </p:nvCxnSpPr>
        <p:spPr>
          <a:xfrm flipV="1">
            <a:off x="2395728" y="3547614"/>
            <a:ext cx="1438465" cy="384306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Google Shape;573;p43"/>
          <p:cNvSpPr txBox="1"/>
          <p:nvPr/>
        </p:nvSpPr>
        <p:spPr>
          <a:xfrm>
            <a:off x="9829800" y="402336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Ошибка со ссылкой на памятку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6" name="Connector 635"/>
          <p:cNvCxnSpPr/>
          <p:nvPr/>
        </p:nvCxnSpPr>
        <p:spPr>
          <a:xfrm flipH="1">
            <a:off x="7676673" y="4297680"/>
            <a:ext cx="2153127" cy="8623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47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ОЦЕНКА И ПРОГНОЗ ГОТОВНОСТИ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16" name="Google Shape;616;p47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17" name="Google Shape;617;p47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Динамика группы по неделям, типичные ошибки и прогноз, кто сдаст аттестацию, с указанием причин.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Прогноз готовности к аттестации.jpg" id="618" name="Google Shape;618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39212" y="1490472"/>
            <a:ext cx="6510528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160020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Средний балл по неделям, порог зачёта пунктиром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9" name="Connector 618"/>
          <p:cNvCxnSpPr/>
          <p:nvPr/>
        </p:nvCxnSpPr>
        <p:spPr>
          <a:xfrm>
            <a:off x="2395728" y="1874519"/>
            <a:ext cx="2274570" cy="35068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3" name="Google Shape;573;p43"/>
          <p:cNvSpPr txBox="1"/>
          <p:nvPr/>
        </p:nvSpPr>
        <p:spPr>
          <a:xfrm>
            <a:off x="9829800" y="160020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Скорость работы против норматива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0" name="Connector 619"/>
          <p:cNvCxnSpPr/>
          <p:nvPr/>
        </p:nvCxnSpPr>
        <p:spPr>
          <a:xfrm flipH="1">
            <a:off x="7152436" y="1874519"/>
            <a:ext cx="2677364" cy="35068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4" name="Google Shape;573;p43"/>
          <p:cNvSpPr txBox="1"/>
          <p:nvPr/>
        </p:nvSpPr>
        <p:spPr>
          <a:xfrm>
            <a:off x="109728" y="329184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Типичные ошибки всей группы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1" name="Connector 620"/>
          <p:cNvCxnSpPr/>
          <p:nvPr/>
        </p:nvCxnSpPr>
        <p:spPr>
          <a:xfrm>
            <a:off x="2395728" y="3566160"/>
            <a:ext cx="2559405" cy="215204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Google Shape;573;p43"/>
          <p:cNvSpPr txBox="1"/>
          <p:nvPr/>
        </p:nvSpPr>
        <p:spPr>
          <a:xfrm>
            <a:off x="9829800" y="402336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Прогноз: кто сдаст аттестацию и почему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2" name="Connector 621"/>
          <p:cNvCxnSpPr/>
          <p:nvPr/>
        </p:nvCxnSpPr>
        <p:spPr>
          <a:xfrm flipH="1">
            <a:off x="6908292" y="4297680"/>
            <a:ext cx="2921508" cy="773582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50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"/>
              <a:buNone/>
            </a:pPr>
            <a:r>
              <a:rPr lang="ru-RU">
                <a:solidFill>
                  <a:srgbClr val="FFFFFF"/>
                </a:solidFill>
              </a:rPr>
              <a:t>АНАЛИТИКА ГРУППЫ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58" name="Google Shape;658;p50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59" name="Google Shape;659;p50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Выжимка по группе и тепловая карта слабых мест: какой обучающийся на каких происшествиях проседает.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Аналитика группы.jpg" id="660" name="Google Shape;660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78024" y="1942814"/>
            <a:ext cx="7232904" cy="316439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3"/>
          <p:cNvSpPr txBox="1"/>
          <p:nvPr/>
        </p:nvSpPr>
        <p:spPr>
          <a:xfrm>
            <a:off x="109728" y="20116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Выжимка: слабые места группы словами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1" name="Connector 660"/>
          <p:cNvCxnSpPr/>
          <p:nvPr/>
        </p:nvCxnSpPr>
        <p:spPr>
          <a:xfrm>
            <a:off x="2395728" y="2286000"/>
            <a:ext cx="1438465" cy="741749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Google Shape;573;p43"/>
          <p:cNvSpPr txBox="1"/>
          <p:nvPr/>
        </p:nvSpPr>
        <p:spPr>
          <a:xfrm>
            <a:off x="9829800" y="3291840"/>
            <a:ext cx="231343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ru-RU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Тепловая карта: обучающиеся по группам происшествий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2" name="Connector 661"/>
          <p:cNvCxnSpPr/>
          <p:nvPr/>
        </p:nvCxnSpPr>
        <p:spPr>
          <a:xfrm flipH="1">
            <a:off x="5913653" y="3566160"/>
            <a:ext cx="3916147" cy="727348"/>
          </a:xfrm>
          <a:prstGeom prst="line">
            <a:avLst/>
          </a:prstGeom>
          <a:ln w="31750">
            <a:solidFill>
              <a:srgbClr val="FF1F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2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РЕКОМЕНДАЦИИ ЗАКАЗЧИКА: СДЕЛАНО (1/2)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84" name="Google Shape;684;p52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1. Доступ к прототипу: стенд по ссылке из любой сети.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52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2. Логины и пароли по ролям на странице входа.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6" name="Google Shape;686;p52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3. PDF: техописание, руководства администратора, преподавателя, обучаемого.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7" name="Google Shape;687;p52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4. Главная панель как в оригинале АРМ-112.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8" name="Google Shape;688;p52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5. Режим оператора 112 скрыт, включает администратор.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9" name="Google Shape;689;p52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690" name="Google Shape;690;p52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1" name="Google Shape;691;p52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2" name="Google Shape;692;p52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3" name="Google Shape;693;p52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4" name="Google Shape;694;p52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2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РЕКОМЕНДАЦИИ ЗАКАЗЧИКА: СДЕЛАНО (2/2)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84" name="Google Shape;684;p52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6. Экран обучаемого не изменён, кабинеты без перегруза.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52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7. Подсказки в панели тренажёра и справочник с памяткой.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6" name="Google Shape;686;p52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8. Виртуальный телефон: кружок, набор, до 10 номеров, роли заказчика.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7" name="Google Shape;687;p52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9. Видео учебной сети: преподаватель и два обучаемых.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8" name="Google Shape;688;p52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10. ИИ выдаёт задания, оценивает и даёт советы без преподавателя.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9" name="Google Shape;689;p52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690" name="Google Shape;690;p52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1" name="Google Shape;691;p52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2" name="Google Shape;692;p52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3" name="Google Shape;693;p52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4" name="Google Shape;694;p52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51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МЫ УЖЕ В ПРОДЕ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70" name="Google Shape;670;p51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lidozvon.ru: боевая голосовая платформа для колл-центров, работает на реальном трафике каждый день.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71" name="Google Shape;671;p51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Своя телефония, ИИ-звонки, распознавание и синтез речи — те же технологии, что в тренажёре.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72" name="Google Shape;672;p51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Умеем держать систему в бою: нагрузка, аптайм, поддержка, а не только демо на хакатоне.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73" name="Google Shape;673;p51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Тренажёр вырос из этого опыта, а не написан с нуля к сдаче.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74" name="Google Shape;674;p51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675" name="Google Shape;675;p51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76" name="Google Shape;676;p51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77" name="Google Shape;677;p51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78" name="Google Shape;678;p51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2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МАРКЕТИНГОВАЯ ЧАСТЬ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684" name="Google Shape;684;p52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Пользователи: диспетчеры сотен служб, подключённых к системе 112, и учебные центры.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52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Ценность: новичок выходит на смену подготовленным, а не учится на живых вызовах.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6" name="Google Shape;686;p52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Заход: пилот на одну группу в одной службе, дальше тиражирование без доработок.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7" name="Google Shape;687;p52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Почему возьмут: интерфейс знакомый, обучение не отрывает действующих диспетчеров.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8" name="Google Shape;688;p52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Перенос в регионы: классификатор и памятка подключаются файлами, код менять не нужно.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89" name="Google Shape;689;p52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690" name="Google Shape;690;p52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1" name="Google Shape;691;p52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2" name="Google Shape;692;p52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3" name="Google Shape;693;p52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694" name="Google Shape;694;p52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53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БИЗНЕСОВАЯ СОСТАВЛЯЮЩАЯ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700" name="Google Shape;700;p53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Запуск: один сервер из требований ТЗ, без видеокарты и без платных лицензий.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01" name="Google Shape;701;p53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Нет платы за обращения: модели работают внутри контура, подписок и счётчиков нет.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02" name="Google Shape;702;p53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Одна установка тянет 100 пользователей и 20 занятий одновременно, это замерено.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03" name="Google Shape;703;p53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Экономия: группа учится без риска для реальных вызовов и без наставника рядом.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04" name="Google Shape;704;p53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Открытый код: заказчик не привязан к подрядчику и развивает решение сам.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05" name="Google Shape;705;p53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706" name="Google Shape;706;p53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07" name="Google Shape;707;p53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08" name="Google Shape;708;p53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09" name="Google Shape;709;p53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10" name="Google Shape;710;p53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54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КАК УСТРОЕНО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716" name="Google Shape;716;p54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lang="ru-RU" sz="1600">
                <a:solidFill>
                  <a:srgbClr val="310F53"/>
                </a:solidFill>
              </a:rPr>
              <a:t>Браузер: рабочее место АРМ-112 и телефон.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17" name="Google Shape;717;p54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lang="ru-RU" sz="1600">
                <a:solidFill>
                  <a:srgbClr val="310F53"/>
                </a:solidFill>
              </a:rPr>
              <a:t>Сервер: занятия, карточки, оценка, отчёты.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18" name="Google Shape;718;p54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lang="ru-RU" sz="1600">
                <a:solidFill>
                  <a:srgbClr val="310F53"/>
                </a:solidFill>
              </a:rPr>
              <a:t>Модели внутри контура: диалог, генерация карточек, распознавание речи, синтез, грамотность.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19" name="Google Shape;719;p54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lang="ru-RU" sz="1600">
                <a:solidFill>
                  <a:srgbClr val="310F53"/>
                </a:solidFill>
              </a:rPr>
              <a:t>Телефония: виртуальный телефон, звонки руководителям и бригаде, доклады, запись разговоров.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20" name="Google Shape;720;p54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lang="ru-RU" sz="1600">
                <a:solidFill>
                  <a:srgbClr val="310F53"/>
                </a:solidFill>
              </a:rPr>
              <a:t>Данные заказчика: классификатор, памятка, 96 учебных билетов.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21" name="Google Shape;721;p54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722" name="Google Shape;722;p54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23" name="Google Shape;723;p54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24" name="Google Shape;724;p54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25" name="Google Shape;725;p54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726" name="Google Shape;726;p54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55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55"/>
          <p:cNvSpPr txBox="1"/>
          <p:nvPr>
            <p:ph idx="4294967295" type="sldNum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17500" lvl="0" marL="45720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Font typeface="Arial"/>
              <a:buChar char="•"/>
            </a:pPr>
            <a:fld id="{00000000-1234-1234-1234-123412341234}" type="slidenum">
              <a:rPr b="0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3" name="Google Shape;733;p55"/>
          <p:cNvSpPr/>
          <p:nvPr>
            <p:ph idx="1" type="body"/>
          </p:nvPr>
        </p:nvSpPr>
        <p:spPr>
          <a:xfrm>
            <a:off x="346075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Браузер (АРМ-112)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55"/>
          <p:cNvSpPr txBox="1"/>
          <p:nvPr>
            <p:ph idx="2" type="body"/>
          </p:nvPr>
        </p:nvSpPr>
        <p:spPr>
          <a:xfrm>
            <a:off x="346075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Рабочее место: реестр, карточка, телефон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55"/>
          <p:cNvSpPr/>
          <p:nvPr>
            <p:ph idx="3" type="body"/>
          </p:nvPr>
        </p:nvSpPr>
        <p:spPr>
          <a:xfrm>
            <a:off x="4832960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Сервер приложения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55"/>
          <p:cNvSpPr txBox="1"/>
          <p:nvPr>
            <p:ph idx="4" type="body"/>
          </p:nvPr>
        </p:nvSpPr>
        <p:spPr>
          <a:xfrm>
            <a:off x="4832960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Занятия, карточки, логика, оценка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55"/>
          <p:cNvSpPr/>
          <p:nvPr>
            <p:ph idx="5" type="body"/>
          </p:nvPr>
        </p:nvSpPr>
        <p:spPr>
          <a:xfrm>
            <a:off x="9330862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База и аналитика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55"/>
          <p:cNvSpPr txBox="1"/>
          <p:nvPr>
            <p:ph idx="6" type="body"/>
          </p:nvPr>
        </p:nvSpPr>
        <p:spPr>
          <a:xfrm>
            <a:off x="9330862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PostgreSQL: отчёты, прогноз готовности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55"/>
          <p:cNvSpPr/>
          <p:nvPr>
            <p:ph idx="7" type="body"/>
          </p:nvPr>
        </p:nvSpPr>
        <p:spPr>
          <a:xfrm>
            <a:off x="2593517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Телефония Asterisk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55"/>
          <p:cNvSpPr txBox="1"/>
          <p:nvPr>
            <p:ph idx="8" type="body"/>
          </p:nvPr>
        </p:nvSpPr>
        <p:spPr>
          <a:xfrm>
            <a:off x="2593517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SIP-звонки: приём, набор, запись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55"/>
          <p:cNvSpPr/>
          <p:nvPr>
            <p:ph idx="9" type="body"/>
          </p:nvPr>
        </p:nvSpPr>
        <p:spPr>
          <a:xfrm>
            <a:off x="7080402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ИИ в контуре</a:t>
            </a:r>
            <a:endParaRPr b="0" i="0" sz="14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55"/>
          <p:cNvSpPr txBox="1"/>
          <p:nvPr>
            <p:ph idx="13" type="body"/>
          </p:nvPr>
        </p:nvSpPr>
        <p:spPr>
          <a:xfrm>
            <a:off x="7080402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Речь, диалог и синтез голоса на CPU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3" name="Google Shape;743;p55"/>
          <p:cNvCxnSpPr/>
          <p:nvPr/>
        </p:nvCxnSpPr>
        <p:spPr>
          <a:xfrm>
            <a:off x="2065940" y="3860224"/>
            <a:ext cx="1332546" cy="0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4" name="Google Shape;744;p55"/>
          <p:cNvCxnSpPr/>
          <p:nvPr/>
        </p:nvCxnSpPr>
        <p:spPr>
          <a:xfrm>
            <a:off x="4312137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5" name="Google Shape;745;p55"/>
          <p:cNvCxnSpPr/>
          <p:nvPr/>
        </p:nvCxnSpPr>
        <p:spPr>
          <a:xfrm>
            <a:off x="6558334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6" name="Google Shape;746;p55"/>
          <p:cNvCxnSpPr/>
          <p:nvPr/>
        </p:nvCxnSpPr>
        <p:spPr>
          <a:xfrm>
            <a:off x="8780467" y="3862139"/>
            <a:ext cx="1332545" cy="0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7" name="Google Shape;747;p55"/>
          <p:cNvCxnSpPr/>
          <p:nvPr/>
        </p:nvCxnSpPr>
        <p:spPr>
          <a:xfrm>
            <a:off x="1609114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8" name="Google Shape;748;p55"/>
          <p:cNvCxnSpPr/>
          <p:nvPr/>
        </p:nvCxnSpPr>
        <p:spPr>
          <a:xfrm>
            <a:off x="3855312" y="4216228"/>
            <a:ext cx="1245" cy="575062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9" name="Google Shape;749;p55"/>
          <p:cNvCxnSpPr/>
          <p:nvPr/>
        </p:nvCxnSpPr>
        <p:spPr>
          <a:xfrm>
            <a:off x="6096000" y="2934762"/>
            <a:ext cx="5509" cy="573287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0" name="Google Shape;750;p55"/>
          <p:cNvCxnSpPr/>
          <p:nvPr/>
        </p:nvCxnSpPr>
        <p:spPr>
          <a:xfrm flipH="1">
            <a:off x="8343442" y="4216228"/>
            <a:ext cx="4264" cy="575062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1" name="Google Shape;751;p55"/>
          <p:cNvCxnSpPr/>
          <p:nvPr/>
        </p:nvCxnSpPr>
        <p:spPr>
          <a:xfrm>
            <a:off x="10593901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rgbClr val="FF00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2" name="Google Shape;752;p55"/>
          <p:cNvSpPr/>
          <p:nvPr/>
        </p:nvSpPr>
        <p:spPr>
          <a:xfrm>
            <a:off x="1191126" y="3508049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753" name="Google Shape;753;p55"/>
          <p:cNvSpPr/>
          <p:nvPr/>
        </p:nvSpPr>
        <p:spPr>
          <a:xfrm>
            <a:off x="3412397" y="350613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754" name="Google Shape;754;p55"/>
          <p:cNvSpPr/>
          <p:nvPr/>
        </p:nvSpPr>
        <p:spPr>
          <a:xfrm>
            <a:off x="5658594" y="351625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755" name="Google Shape;755;p55"/>
          <p:cNvSpPr/>
          <p:nvPr/>
        </p:nvSpPr>
        <p:spPr>
          <a:xfrm>
            <a:off x="7889752" y="350613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756" name="Google Shape;756;p55"/>
          <p:cNvSpPr/>
          <p:nvPr/>
        </p:nvSpPr>
        <p:spPr>
          <a:xfrm>
            <a:off x="10113012" y="353862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57" name="Google Shape;757;p55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</a:pPr>
            <a:r>
              <a:rPr lang="ru-RU"/>
              <a:t>АРХИТЕКТУРА</a:t>
            </a:r>
            <a:endParaRPr/>
          </a:p>
        </p:txBody>
      </p:sp>
      <p:sp>
        <p:nvSpPr>
          <p:cNvPr id="758" name="Google Shape;758;p55"/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55"/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55"/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55"/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55"/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6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8" name="Google Shape;768;p56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9" name="Google Shape;769;p56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70" name="Google Shape;770;p5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71" name="Google Shape;771;p56"/>
          <p:cNvSpPr txBox="1"/>
          <p:nvPr>
            <p:ph idx="1" type="body"/>
          </p:nvPr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Собеседники под контролем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2" name="Google Shape;772;p56"/>
          <p:cNvSpPr txBox="1"/>
          <p:nvPr>
            <p:ph idx="2" type="body"/>
          </p:nvPr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Руководители и бригада говорят утверждёнными репликами, 819 фраз студийной озвучки.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Точность выбора 95 процентов.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3" name="Google Shape;773;p56"/>
          <p:cNvSpPr txBox="1"/>
          <p:nvPr>
            <p:ph idx="3" type="body"/>
          </p:nvPr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Скорость на процессоре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4" name="Google Shape;774;p56"/>
          <p:cNvSpPr txBox="1"/>
          <p:nvPr>
            <p:ph idx="4" type="body"/>
          </p:nvPr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Ответ текстом 0,9 секунды, голосом 1,7 секунды.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Без видеокарты.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5" name="Google Shape;775;p56"/>
          <p:cNvSpPr txBox="1"/>
          <p:nvPr>
            <p:ph idx="5" type="body"/>
          </p:nvPr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600"/>
              <a:buNone/>
            </a:pPr>
            <a:r>
              <a:rPr b="1" lang="ru-RU" sz="1600">
                <a:solidFill>
                  <a:srgbClr val="310F53"/>
                </a:solidFill>
              </a:rPr>
              <a:t>Масштабируется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76" name="Google Shape;776;p56"/>
          <p:cNvSpPr txBox="1"/>
          <p:nvPr>
            <p:ph idx="6" type="body"/>
          </p:nvPr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Адрес модели задаётся настройкой.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400"/>
              <a:buChar char="•"/>
            </a:pPr>
            <a:r>
              <a:rPr lang="ru-RU" sz="1400">
                <a:solidFill>
                  <a:srgbClr val="310F53"/>
                </a:solidFill>
              </a:rPr>
              <a:t>Можно вынести на сервер с видеокартой.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7" name="Google Shape;777;p56"/>
          <p:cNvSpPr txBox="1"/>
          <p:nvPr>
            <p:ph type="title"/>
          </p:nvPr>
        </p:nvSpPr>
        <p:spPr>
          <a:xfrm>
            <a:off x="525816" y="335426"/>
            <a:ext cx="11331221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ИИ БЕЗ</a:t>
            </a: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>
                <a:solidFill>
                  <a:srgbClr val="310F53"/>
                </a:solidFill>
              </a:rPr>
              <a:t>ОБЛАКА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78" name="Google Shape;778;p56"/>
          <p:cNvSpPr txBox="1"/>
          <p:nvPr>
            <p:ph idx="16" type="body"/>
          </p:nvPr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01</a:t>
            </a:r>
            <a:endParaRPr b="1" sz="4400">
              <a:solidFill>
                <a:schemeClr val="accent5"/>
              </a:solidFill>
            </a:endParaRPr>
          </a:p>
        </p:txBody>
      </p:sp>
      <p:sp>
        <p:nvSpPr>
          <p:cNvPr id="779" name="Google Shape;779;p56"/>
          <p:cNvSpPr txBox="1"/>
          <p:nvPr>
            <p:ph idx="17" type="body"/>
          </p:nvPr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02</a:t>
            </a:r>
            <a:endParaRPr b="1" sz="4400">
              <a:solidFill>
                <a:schemeClr val="accent5"/>
              </a:solidFill>
            </a:endParaRPr>
          </a:p>
        </p:txBody>
      </p:sp>
      <p:sp>
        <p:nvSpPr>
          <p:cNvPr id="780" name="Google Shape;780;p56"/>
          <p:cNvSpPr txBox="1"/>
          <p:nvPr>
            <p:ph idx="18" type="body"/>
          </p:nvPr>
        </p:nvSpPr>
        <p:spPr>
          <a:xfrm>
            <a:off x="8547959" y="1766043"/>
            <a:ext cx="1311031" cy="57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03</a:t>
            </a:r>
            <a:endParaRPr b="1" sz="44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57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6" name="Google Shape;786;p5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87" name="Google Shape;787;p57"/>
          <p:cNvSpPr txBox="1"/>
          <p:nvPr>
            <p:ph idx="1" type="body"/>
          </p:nvPr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Классификатор заказчика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88" name="Google Shape;788;p57"/>
          <p:cNvSpPr txBox="1"/>
          <p:nvPr>
            <p:ph idx="2" type="body"/>
          </p:nvPr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89" name="Google Shape;789;p57"/>
          <p:cNvSpPr txBox="1"/>
          <p:nvPr>
            <p:ph idx="3" type="body"/>
          </p:nvPr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Памятка по работе с АРМ-112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90" name="Google Shape;790;p57"/>
          <p:cNvSpPr txBox="1"/>
          <p:nvPr>
            <p:ph idx="4" type="body"/>
          </p:nvPr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Статусы реагирования и виды нарушений, по ним названы ошибки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1" name="Google Shape;791;p57"/>
          <p:cNvSpPr txBox="1"/>
          <p:nvPr>
            <p:ph idx="5" type="body"/>
          </p:nvPr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96 учебных билетов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92" name="Google Shape;792;p57"/>
          <p:cNvSpPr txBox="1"/>
          <p:nvPr>
            <p:ph idx="6" type="body"/>
          </p:nvPr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Ситуации заказчика превращены в учебные сценарии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3" name="Google Shape;793;p57"/>
          <p:cNvSpPr txBox="1"/>
          <p:nvPr>
            <p:ph idx="7" type="body"/>
          </p:nvPr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Соответствие техническому заданию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94" name="Google Shape;794;p57"/>
          <p:cNvSpPr txBox="1"/>
          <p:nvPr>
            <p:ph idx="8" type="body"/>
          </p:nvPr>
        </p:nvSpPr>
        <p:spPr>
          <a:xfrm>
            <a:off x="7289071" y="199638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174 пункта: 140 выполнено, 31 частично, по каждому указано, как проверить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5" name="Google Shape;795;p57"/>
          <p:cNvSpPr txBox="1"/>
          <p:nvPr>
            <p:ph idx="9" type="body"/>
          </p:nvPr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Скорость под нагрузкой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96" name="Google Shape;796;p57"/>
          <p:cNvSpPr txBox="1"/>
          <p:nvPr>
            <p:ph idx="13" type="body"/>
          </p:nvPr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100 пользователей: отклик 1,8 секунды. 825 записей в базу в секунду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7" name="Google Shape;797;p57"/>
          <p:cNvSpPr txBox="1"/>
          <p:nvPr>
            <p:ph idx="14" type="body"/>
          </p:nvPr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400"/>
              <a:buNone/>
            </a:pPr>
            <a:r>
              <a:rPr b="1" lang="ru-RU" sz="1400">
                <a:solidFill>
                  <a:srgbClr val="310F53"/>
                </a:solidFill>
              </a:rPr>
              <a:t>Рекомендации заказчика</a:t>
            </a:r>
            <a:endParaRPr>
              <a:solidFill>
                <a:srgbClr val="F92571"/>
              </a:solidFill>
            </a:endParaRPr>
          </a:p>
        </p:txBody>
      </p:sp>
      <p:sp>
        <p:nvSpPr>
          <p:cNvPr id="798" name="Google Shape;798;p57"/>
          <p:cNvSpPr txBox="1"/>
          <p:nvPr>
            <p:ph idx="15" type="body"/>
          </p:nvPr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200"/>
              <a:buChar char="•"/>
            </a:pPr>
            <a:r>
              <a:rPr lang="ru-RU" sz="1200">
                <a:solidFill>
                  <a:srgbClr val="310F53"/>
                </a:solidFill>
              </a:rPr>
              <a:t>Все 10 рекомендаций от 16.10 отработаны, у каждой строка в матрице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9" name="Google Shape;799;p57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ЧТО ПРОВЕРЕНО</a:t>
            </a:r>
            <a:endParaRPr/>
          </a:p>
        </p:txBody>
      </p:sp>
      <p:sp>
        <p:nvSpPr>
          <p:cNvPr id="800" name="Google Shape;800;p57"/>
          <p:cNvSpPr txBox="1"/>
          <p:nvPr>
            <p:ph idx="16" type="body"/>
          </p:nvPr>
        </p:nvSpPr>
        <p:spPr>
          <a:xfrm>
            <a:off x="520913" y="1394052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01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801" name="Google Shape;801;p57"/>
          <p:cNvSpPr txBox="1"/>
          <p:nvPr>
            <p:ph idx="17" type="body"/>
          </p:nvPr>
        </p:nvSpPr>
        <p:spPr>
          <a:xfrm>
            <a:off x="501557" y="2998036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02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802" name="Google Shape;802;p57"/>
          <p:cNvSpPr txBox="1"/>
          <p:nvPr>
            <p:ph idx="18" type="body"/>
          </p:nvPr>
        </p:nvSpPr>
        <p:spPr>
          <a:xfrm>
            <a:off x="501557" y="4582148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03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803" name="Google Shape;803;p57"/>
          <p:cNvSpPr txBox="1"/>
          <p:nvPr>
            <p:ph idx="19" type="body"/>
          </p:nvPr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04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804" name="Google Shape;804;p57"/>
          <p:cNvSpPr txBox="1"/>
          <p:nvPr>
            <p:ph idx="20" type="body"/>
          </p:nvPr>
        </p:nvSpPr>
        <p:spPr>
          <a:xfrm>
            <a:off x="6174664" y="2998036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05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805" name="Google Shape;805;p57"/>
          <p:cNvSpPr txBox="1"/>
          <p:nvPr>
            <p:ph idx="21" type="body"/>
          </p:nvPr>
        </p:nvSpPr>
        <p:spPr>
          <a:xfrm>
            <a:off x="6174664" y="4582148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C3777"/>
              </a:buClr>
              <a:buSzPts val="2800"/>
              <a:buNone/>
            </a:pPr>
            <a:r>
              <a:rPr b="1" lang="ru-RU">
                <a:solidFill>
                  <a:srgbClr val="FC3777"/>
                </a:solidFill>
              </a:rPr>
              <a:t>06</a:t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58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УНИКАЛЬНОСТЬ РЕШЕНИЯ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811" name="Google Shape;811;p58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Рабочее место повторяет живой АРМ-112, сверено по скриншотам заказчика.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12" name="Google Shape;812;p58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Виртуальный телефон: справочник, собеседники торопят, «машин нет», доклады бригады.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13" name="Google Shape;813;p58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Работает в закрытом контуре на процессоре, без интернета и без видеокарты.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14" name="Google Shape;814;p58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Оценка объяснимая: ошибки словами памятки, подсчёт проверен 408 сверками.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15" name="Google Shape;815;p58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ИИ сам пишет задания, оценивает и даёт советы без участия преподавателя.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16" name="Google Shape;816;p58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817" name="Google Shape;817;p58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18" name="Google Shape;818;p58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19" name="Google Shape;819;p58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20" name="Google Shape;820;p58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21" name="Google Shape;821;p58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59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ВНЕДРЕНИЕ И СОПРОВОЖДЕНИЕ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827" name="Google Shape;827;p59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Установка в закрытом контуре заказчика, без облака и внешних сервисов.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28" name="Google Shape;828;p59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Настройка под регион: свой классификатор, памятка и сценарии, без переписывания кода.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29" name="Google Shape;829;p59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Обучение преподавателей, поддержка и обновления.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30" name="Google Shape;830;p59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Можем вести как сервис или передать заказчику с полным сопровождением.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31" name="Google Shape;831;p59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832" name="Google Shape;832;p59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33" name="Google Shape;833;p59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34" name="Google Shape;834;p59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35" name="Google Shape;835;p59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9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60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ПЛАНЫ ПО РАЗВИТИЮ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841" name="Google Shape;841;p60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Расшифровка сценариев реагирования заказчика для более точной оценки.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42" name="Google Shape;842;p60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Вход через каталог учётных записей учебного центра.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43" name="Google Shape;843;p60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Режим аттестации с протоколом и сертификатом.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44" name="Google Shape;844;p60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Ролевой режим: преподаватель играет начальника службы. Настольный SIP-аппарат.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45" name="Google Shape;845;p60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Перенос в другие регионы: свой классификатор и своя памятка.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46" name="Google Shape;846;p60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847" name="Google Shape;847;p60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48" name="Google Shape;848;p60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49" name="Google Shape;849;p60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50" name="Google Shape;850;p60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51" name="Google Shape;851;p60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61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7" name="Google Shape;857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78252" y="904538"/>
            <a:ext cx="4551334" cy="3557364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61"/>
          <p:cNvSpPr/>
          <p:nvPr>
            <p:ph idx="2" type="pic"/>
          </p:nvPr>
        </p:nvSpPr>
        <p:spPr>
          <a:xfrm>
            <a:off x="4068417" y="1187395"/>
            <a:ext cx="3988905" cy="3000292"/>
          </a:xfrm>
          <a:prstGeom prst="roundRect">
            <a:avLst>
              <a:gd fmla="val 3416" name="adj"/>
            </a:avLst>
          </a:prstGeom>
          <a:noFill/>
          <a:ln>
            <a:noFill/>
          </a:ln>
        </p:spPr>
      </p:sp>
      <p:sp>
        <p:nvSpPr>
          <p:cNvPr id="859" name="Google Shape;859;p6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860" name="Google Shape;860;p61"/>
          <p:cNvSpPr txBox="1"/>
          <p:nvPr>
            <p:ph idx="1" type="body"/>
          </p:nvPr>
        </p:nvSpPr>
        <p:spPr>
          <a:xfrm>
            <a:off x="346075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b="1" lang="ru-RU" sz="1300">
                <a:solidFill>
                  <a:srgbClr val="310F53"/>
                </a:solidFill>
              </a:rPr>
              <a:t>Рабочий стенд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lang="ru-RU" sz="1300">
                <a:solidFill>
                  <a:srgbClr val="310F53"/>
                </a:solidFill>
              </a:rPr>
              <a:t>https://155-212-186-2.sslip.io, логины и пароли на странице входа.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61" name="Google Shape;861;p61"/>
          <p:cNvSpPr txBox="1"/>
          <p:nvPr>
            <p:ph idx="3" type="body"/>
          </p:nvPr>
        </p:nvSpPr>
        <p:spPr>
          <a:xfrm>
            <a:off x="4240502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b="1" lang="ru-RU" sz="1300">
                <a:solidFill>
                  <a:srgbClr val="310F53"/>
                </a:solidFill>
              </a:rPr>
              <a:t>Репозиторий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lang="ru-RU" sz="1300">
                <a:solidFill>
                  <a:srgbClr val="310F53"/>
                </a:solidFill>
              </a:rPr>
              <a:t>github.com/Vadik145-beep/lct-112-simulator, ссылки на всё в README.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62" name="Google Shape;862;p61"/>
          <p:cNvSpPr txBox="1"/>
          <p:nvPr>
            <p:ph idx="4" type="body"/>
          </p:nvPr>
        </p:nvSpPr>
        <p:spPr>
          <a:xfrm>
            <a:off x="8230203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b="1" lang="ru-RU" sz="1300">
                <a:solidFill>
                  <a:srgbClr val="310F53"/>
                </a:solidFill>
              </a:rPr>
              <a:t>Видео и документы</a:t>
            </a:r>
            <a:endParaRPr>
              <a:solidFill>
                <a:schemeClr val="dk1"/>
              </a:solidFill>
            </a:endParaRPr>
          </a:p>
          <a:p>
            <a:pPr indent="-144688" lvl="0" marL="144688" rtl="0" algn="l">
              <a:lnSpc>
                <a:spcPct val="90000"/>
              </a:lnSpc>
              <a:spcBef>
                <a:spcPts val="1431"/>
              </a:spcBef>
              <a:spcAft>
                <a:spcPts val="0"/>
              </a:spcAft>
              <a:buClr>
                <a:srgbClr val="310F53"/>
              </a:buClr>
              <a:buSzPts val="1300"/>
              <a:buChar char="•"/>
            </a:pPr>
            <a:r>
              <a:rPr lang="ru-RU" sz="1300">
                <a:solidFill>
                  <a:srgbClr val="310F53"/>
                </a:solidFill>
              </a:rPr>
              <a:t>Ролик учебной сети и четыре PDF: техописание и руководства.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63" name="Google Shape;863;p61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ГДЕ ПОСМОТРЕТЬ</a:t>
            </a:r>
            <a:endParaRPr/>
          </a:p>
        </p:txBody>
      </p:sp>
      <p:pic>
        <p:nvPicPr>
          <p:cNvPr descr="demo-fit.jpg" id="864" name="Google Shape;864;p6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68417" y="1187395"/>
            <a:ext cx="3988905" cy="3000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62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900"/>
              <a:buFont typeface="Montserrat"/>
              <a:buNone/>
            </a:pPr>
            <a:r>
              <a:rPr lang="ru-RU">
                <a:solidFill>
                  <a:srgbClr val="310F53"/>
                </a:solidFill>
              </a:rPr>
              <a:t>ГОТОВЫ ВНЕДРИТЬ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870" name="Google Shape;870;p62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Тренажёр, который окупается спасёнными минутами на реальных вызовах.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71" name="Google Shape;871;p62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Готово сейчас: рабочий стенд, открытый код и команда с продакшн-опытом.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72" name="Google Shape;872;p62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Внедрим в закрытом контуре вашей службы и будем сопровождать.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73" name="Google Shape;873;p62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10F53"/>
              </a:buClr>
              <a:buSzPts val="1500"/>
              <a:buNone/>
            </a:pPr>
            <a:r>
              <a:rPr lang="ru-RU" sz="1500">
                <a:solidFill>
                  <a:srgbClr val="310F53"/>
                </a:solidFill>
              </a:rPr>
              <a:t>Связаться: сайт lidozvon.ru, Telegram @Konsttsyg и @VadimTsu.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74" name="Google Shape;874;p62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875" name="Google Shape;875;p62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76" name="Google Shape;876;p62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77" name="Google Shape;877;p62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  <p:cxnSp>
        <p:nvCxnSpPr>
          <p:cNvPr id="878" name="Google Shape;878;p62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