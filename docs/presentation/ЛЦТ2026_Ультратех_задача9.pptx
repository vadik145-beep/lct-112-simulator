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268" r:id="rId25"/>
    <p:sldId id="375" r:id="rId12"/>
    <p:sldId id="371" r:id="rId17"/>
    <p:sldId id="376" r:id="rId20"/>
    <p:sldId id="381" r:id="rId45"/>
    <p:sldId id="382" r:id="rId46"/>
    <p:sldId id="377" r:id="rId15"/>
    <p:sldId id="378" r:id="rId22"/>
    <p:sldId id="370" r:id="rId16"/>
    <p:sldId id="374" r:id="rId18"/>
    <p:sldId id="262" r:id="rId21"/>
    <p:sldId id="260" r:id="rId19"/>
    <p:sldId id="379" r:id="rId23"/>
    <p:sldId id="383" r:id="rId47"/>
    <p:sldId id="384" r:id="rId48"/>
    <p:sldId id="380" r:id="rId24"/>
    <p:sldId id="366" r:id="rId9"/>
    <p:sldId id="362" r:id="rId10"/>
    <p:sldId id="364" r:id="rId11"/>
    <p:sldId id="269" r:id="rId27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18.xml"/><Relationship Id="rId10" Type="http://schemas.openxmlformats.org/officeDocument/2006/relationships/slide" Target="slides/slide19.xml"/><Relationship Id="rId11" Type="http://schemas.openxmlformats.org/officeDocument/2006/relationships/slide" Target="slides/slide20.xml"/><Relationship Id="rId12" Type="http://schemas.openxmlformats.org/officeDocument/2006/relationships/slide" Target="slides/slide3.xml"/><Relationship Id="rId15" Type="http://schemas.openxmlformats.org/officeDocument/2006/relationships/slide" Target="slides/slide8.xml"/><Relationship Id="rId16" Type="http://schemas.openxmlformats.org/officeDocument/2006/relationships/slide" Target="slides/slide10.xml"/><Relationship Id="rId17" Type="http://schemas.openxmlformats.org/officeDocument/2006/relationships/slide" Target="slides/slide4.xml"/><Relationship Id="rId18" Type="http://schemas.openxmlformats.org/officeDocument/2006/relationships/slide" Target="slides/slide11.xml"/><Relationship Id="rId19" Type="http://schemas.openxmlformats.org/officeDocument/2006/relationships/slide" Target="slides/slide13.xml"/><Relationship Id="rId20" Type="http://schemas.openxmlformats.org/officeDocument/2006/relationships/slide" Target="slides/slide5.xml"/><Relationship Id="rId21" Type="http://schemas.openxmlformats.org/officeDocument/2006/relationships/slide" Target="slides/slide12.xml"/><Relationship Id="rId22" Type="http://schemas.openxmlformats.org/officeDocument/2006/relationships/slide" Target="slides/slide9.xml"/><Relationship Id="rId23" Type="http://schemas.openxmlformats.org/officeDocument/2006/relationships/slide" Target="slides/slide14.xml"/><Relationship Id="rId24" Type="http://schemas.openxmlformats.org/officeDocument/2006/relationships/slide" Target="slides/slide17.xml"/><Relationship Id="rId25" Type="http://schemas.openxmlformats.org/officeDocument/2006/relationships/slide" Target="slides/slide2.xml"/><Relationship Id="rId27" Type="http://schemas.openxmlformats.org/officeDocument/2006/relationships/slide" Target="slides/slide21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6.xml"/><Relationship Id="rId46" Type="http://schemas.openxmlformats.org/officeDocument/2006/relationships/slide" Target="slides/slide7.xml"/><Relationship Id="rId47" Type="http://schemas.openxmlformats.org/officeDocument/2006/relationships/slide" Target="slides/slide15.xml"/><Relationship Id="rId48" Type="http://schemas.openxmlformats.org/officeDocument/2006/relationships/slide" Target="slides/slide1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9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6.jpg"/><Relationship Id="rId5" Type="http://schemas.openxmlformats.org/officeDocument/2006/relationships/image" Target="../media/image7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4.png"/><Relationship Id="rId3" Type="http://schemas.openxmlformats.org/officeDocument/2006/relationships/image" Target="../media/image32.png"/><Relationship Id="rId4" Type="http://schemas.openxmlformats.org/officeDocument/2006/relationships/image" Target="../media/image8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t>Ультратех</a:t>
            </a:r>
            <a:endParaRPr lang="ru-RU" sz="4800" dirty="0"/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268288"/>
            <a:r>
              <a:t>Задача № 9. Учебное программное обеспечение для подготовки оператора ДДС города Москвы с использованием искусственного интеллекта. Постановщик: Департамент ГОЧСиПБ города Москвы, ГБУ «Система 112»</a:t>
            </a:r>
            <a:endParaRPr lang="ru-RU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Picture 5" descr="logo-f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186" y="329801"/>
            <a:ext cx="5193299" cy="1082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Сотни служб подключены к системе 112.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Карточка уходит в ту, что отвечает за этот адрес.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На приём карточки 30 секунд.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Не успел, и она уходит в отметку «не оповещено».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Тренажёра нет.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Учат на живых вызовах, где ошибка это время приезда помощи.</a:t>
            </a:r>
            <a:endParaRPr lang="ru-RU">
              <a:solidFill>
                <a:schemeClr val="tx1"/>
              </a:solidFill>
            </a:endParaRP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ПРОБЛЕМА</a:t>
            </a:r>
            <a:endParaRPr lang="ru-RU" dirty="0"/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Веб-приложение в закрытом контуре: интерфейс, сервер, база, телефония Asterisk.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Экран диспетчера повторяет АРМ-112 заказчика. Виртуальный телефон: руководители и бригада отвечают голосом.</a:t>
            </a:r>
          </a:p>
          <a:p>
            <a:r>
              <a:rPr lang="ru-RU" sz="1400" dirty="0">
                <a:solidFill>
                  <a:schemeClr val="tx1"/>
                </a:solidFill>
              </a:rPr>
              <a:t>Карточки формирует ИИ по сложности, он же оценивает действия и даёт советы. Модели работают на месте, без интернета.</a:t>
            </a:r>
          </a:p>
          <a:p>
            <a:r>
              <a:rPr lang="ru-RU" sz="1400" dirty="0">
                <a:solidFill>
                  <a:schemeClr val="tx1"/>
                </a:solidFill>
              </a:rPr>
              <a:t>Разворачивается одной командой, переносится на носителе.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400" dirty="0">
                <a:solidFill>
                  <a:schemeClr val="tx1"/>
                </a:solidFill>
              </a:rPr>
              <a:t>Нужен службам, подключённым к 112, и учебным центрам.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400" dirty="0">
                <a:solidFill>
                  <a:schemeClr val="tx1"/>
                </a:solidFill>
              </a:rPr>
              <a:t>Подготовка новичков, переподготовка, аттестация.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400" dirty="0">
                <a:solidFill>
                  <a:schemeClr val="tx1"/>
                </a:solidFill>
              </a:rPr>
              <a:t>Класс из преподавателя и обучаемых: разные задания каждому без участия преподавателя.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400" dirty="0">
                <a:solidFill>
                  <a:schemeClr val="tx1"/>
                </a:solidFill>
              </a:rPr>
              <a:t>Дальше: каталог учётных записей, аттестация с протоколом, ролевой режим с преподавателем в роли начальника.</a:t>
            </a:r>
            <a:br>
              <a:rPr lang="ru-RU" sz="1400" dirty="0">
                <a:solidFill>
                  <a:schemeClr val="tx1"/>
                </a:solidFill>
              </a:rPr>
            </a:b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10F53"/>
                </a:solidFill>
              </a:rPr>
              <a:t>Диспетчер ДДС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Принимает карточку от 112 в норматив и ведёт статусы.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Звонит руководителям и бригаде, принимает доклады.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10F53"/>
                </a:solidFill>
              </a:rPr>
              <a:t>Виртуальный телефон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Зелёный кружок: набор номера, справочник до 10 номеров.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Собеседники торопят, уточняют, докладывают с места.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10F53"/>
                </a:solidFill>
              </a:rPr>
              <a:t>Преподаватель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Ведёт занятия, видит группу вживую.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Задания формирует ИИ, отчёты и советы по каждому.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10F53"/>
                </a:solidFill>
              </a:rPr>
              <a:t>Администратор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Пользователи и состояние сервисов.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Журнал аудита, резервные копии.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ЧТО УМЕЕТ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КАК В ЖИВОЙ СИСТЕМЕ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pic>
        <p:nvPicPr>
          <p:cNvPr id="22" name="Picture 21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60" y="1554480"/>
            <a:ext cx="11155680" cy="378641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18160" y="5569496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FFFFFF"/>
                </a:solidFill>
              </a:rPr>
              <a:t>Реестр происшествий и карточка повторяют рабочее место АРМ-112: те же колонки, статусы и расположение блоков. Диспетчер садится и работает, а не изучает новую программу.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ВИРТУАЛЬНЫЙ ТЕЛЕФОН ДИСПЕТЧЕРА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pic>
        <p:nvPicPr>
          <p:cNvPr id="22" name="Picture 21" descr="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4754880" cy="4160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669280" y="1371600"/>
            <a:ext cx="6035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FFFFFF"/>
                </a:solidFill>
              </a:rPr>
              <a:t>Зелёный кружок на панели диспетчера открывает телефон: клавиатура, справочник, последние вызовы.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FFFFF"/>
                </a:solidFill>
              </a:rPr>
              <a:t>Справочник ведёт преподаватель: до 10 номеров на службу. Руководитель организации, начальник отдела реагирования, начальник и специалист аварийной бригады.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FFFFF"/>
                </a:solidFill>
              </a:rPr>
              <a:t>Собеседники отвечают голосом и ведут себя по сложности: торопят, сообщают «машин нет», докладывают об осложнении на месте, звонят с докладами.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FFFFF"/>
                </a:solidFill>
              </a:rPr>
              <a:t>С заявителем диспетчер говорит только с разрешения преподавателя, набирая номер из карточки.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FFFFF"/>
                </a:solidFill>
              </a:rPr>
              <a:t>Оценка звонка: нужные люди, переданные факты, распоряжение и номер наряда, норматив.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FFFFFF"/>
                </a:solidFill>
              </a:rPr>
              <a:t>ИИ ФОРМИРУЕТ ЗАДАНИЯ И ОЦЕНИВАЕТ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pic>
        <p:nvPicPr>
          <p:cNvPr id="22" name="Picture 21" descr="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4937760" cy="4160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852160" y="1371600"/>
            <a:ext cx="5852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FFFFFF"/>
                </a:solidFill>
              </a:rPr>
              <a:t>Преподаватель включает «Задания формирует ИИ» и выбирает сложность. Дальше без него.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FFFFF"/>
                </a:solidFill>
              </a:rPr>
              <a:t>Каждый обучаемый получает свои карточки: на сложности 1 одна без ошибок, на 3 несколько подряд с заложенными ошибками оператора 112.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FFFFF"/>
                </a:solidFill>
              </a:rPr>
              <a:t>ИИ оценивает решение, время, статусы, звонки и комментарии, называет ошибки словами памятки заказчика.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FFFFF"/>
                </a:solidFill>
              </a:rPr>
              <a:t>После карточки и по занятию обучаемый получает советы для дальнейшего обучения, следующее задание подбирается по его ошибкам.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FFFFFF"/>
                </a:solidFill>
              </a:rPr>
              <a:t>Работает без интернета на сервере без видеокарты.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МАРКЕТИНГОВАЯ ЧАСТЬ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Пользователи: диспетчеры сотен служб, подключённых к системе 112, и учебные центры.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Ценность: новичок выходит на смену подготовленным, а не учится на живых вызовах.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Заход: пилот на одну группу в одной службе, дальше тиражирование без доработок.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Почему возьмут: интерфейс знакомый, обучение не отрывает действующих диспетчеров.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Перенос в регионы: классификатор и памятка подключаются файлами, код менять не нужно.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БИЗНЕСОВАЯ СОСТАВЛЯЮЩАЯ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Запуск: один сервер из требований ТЗ, без видеокарты и без платных лицензий.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Нет платы за обращения: модели работают внутри контура, подписок и счётчиков нет.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Одна установка тянет 100 пользователей и 20 занятий одновременно, это замерено.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Экономия: группа учится без риска для реальных вызовов и без наставника рядом.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Открытый код: заказчик не привязан к подрядчику и развивает решение сам.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КАК УСТРОЕНО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Браузер: рабочее место АРМ-112 и телефон.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Сервер: занятия, карточки, оценка, отчёты.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Модели внутри контура: диалог, генерация карточек, распознавание речи, синтез, грамотность.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Телефония: виртуальный телефон, звонки руководителям и бригаде, доклады, запись разговоров.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310F53"/>
                </a:solidFill>
              </a:rPr>
              <a:t>Данные заказчика: классификатор, памятка, 96 учебных билетов.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10F53"/>
                </a:solidFill>
              </a:rPr>
              <a:t>Собеседники под контролем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Руководители и бригада говорят утверждёнными репликами, 819 фраз студийной озвучки.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Точность выбора 95 процентов.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10F53"/>
                </a:solidFill>
              </a:rPr>
              <a:t>Скорость на процессоре</a:t>
            </a:r>
            <a:endParaRPr lang="ru-RU" sz="1800" dirty="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Ответ текстом 0,9 секунды, голосом 1,7 секунды.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Без видеокарты.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310F53"/>
                </a:solidFill>
              </a:rPr>
              <a:t>Масштабируется</a:t>
            </a:r>
            <a:endParaRPr lang="ru-RU"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Адрес модели задаётся настройкой.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Можно вынести на сервер с видеокартой.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r>
              <a:t>ИИ БЕЗ ОБЛАКА</a:t>
            </a:r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01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02</a:t>
            </a:r>
            <a:endParaRPr lang="ru-RU" sz="4400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03</a:t>
            </a:r>
            <a:endParaRPr lang="ru-RU" sz="44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Балл раскладывается на составляющие.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Каждая ошибка названа словами памятки заказчика.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После карточки и по занятию: советы для дальнейшего обучения.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Преподаватель может изменить итог, указав причину.</a:t>
            </a:r>
            <a:endParaRPr lang="ru-RU" sz="3600" b="1">
              <a:solidFill>
                <a:schemeClr val="tx1"/>
              </a:solidFill>
            </a:endParaRP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Подсчёт проверен независимо: 12 живых звонков, 408 сверок, расхождений нет.</a:t>
            </a:r>
            <a:endParaRPr lang="ru-RU" sz="3600" b="1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Решение: принять или отклонить, и обоснование отказа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Время: первичный статус против норматива 30 секунд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Цепочка статусов: начало реагирования, прибытие, работы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Звонки: нужные люди, факты, распоряжение и номер наряда, норматив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310F53"/>
                </a:solidFill>
              </a:rPr>
              <a:t>Комментарии и грамотность: полнота записей и ошибки в тексте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ОЦЕНКА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7922FF53-ACE2-23D9-1F2E-C3CB2E860DAF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669682A0-CA38-40A8-94F2-47358000C1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18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27E23EC9-2FC6-4D30-AF38-406CDD6EAFE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1615961" y="1428777"/>
            <a:ext cx="3866856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Классификатор заказчика</a:t>
            </a:r>
            <a:endParaRPr lang="ru-RU" dirty="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711F3D1-6A7C-417C-88B0-D92130FE9557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1615964" y="1996388"/>
            <a:ext cx="3866856" cy="67207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10F53"/>
                </a:solidFill>
              </a:rPr>
              <a:t>1283 типа происшествий, службы подбираются по признакам карточки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6CFDA1A-32AF-41E1-A34D-F85A5B0EDD07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1596605" y="3032761"/>
            <a:ext cx="3866856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Памятка по работе с АРМ-112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CF47ED-F081-41D2-846B-E1D156AA0314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1596605" y="3580500"/>
            <a:ext cx="3866856" cy="67207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10F53"/>
                </a:solidFill>
              </a:rPr>
              <a:t>Статусы реагирования и виды нарушений, по ним названы ошибки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19BEAF1A-2D42-4D98-AD35-7280D52BED88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1596605" y="4616873"/>
            <a:ext cx="3866856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96 учебных билетов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50E54373-F1CE-490F-A9AC-455CC1CA7076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1596605" y="5164612"/>
            <a:ext cx="3866856" cy="67207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10F53"/>
                </a:solidFill>
              </a:rPr>
              <a:t>Ситуации заказчика превращены в учебные сценарии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D072020D-E8F8-4E9E-BBDB-08E0FF7D7841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7289068" y="1428777"/>
            <a:ext cx="3866856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Соответствие техническому заданию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F21454E5-F292-4891-9D68-0D5174698360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7289071" y="1996388"/>
            <a:ext cx="3866856" cy="67207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10F53"/>
                </a:solidFill>
              </a:rPr>
              <a:t>174 пункта: 140 выполнено, 31 частично, по каждому указано, как проверить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D966D9B-CCFE-4200-A5EC-3EB869FCB8CC}"/>
              </a:ext>
            </a:extLst>
          </p:cNvPr>
          <p:cNvSpPr>
            <a:spLocks noGrp="1"/>
          </p:cNvSpPr>
          <p:nvPr>
            <p:ph type="body" sz="quarter" idx="45"/>
          </p:nvPr>
        </p:nvSpPr>
        <p:spPr>
          <a:xfrm>
            <a:off x="7269712" y="3032761"/>
            <a:ext cx="3866856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Скорость под нагрузкой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C1D06240-647F-427A-8B8C-091F9721E642}"/>
              </a:ext>
            </a:extLst>
          </p:cNvPr>
          <p:cNvSpPr>
            <a:spLocks noGrp="1"/>
          </p:cNvSpPr>
          <p:nvPr>
            <p:ph type="body" sz="quarter" idx="46"/>
          </p:nvPr>
        </p:nvSpPr>
        <p:spPr>
          <a:xfrm>
            <a:off x="7269712" y="3580500"/>
            <a:ext cx="3866856" cy="67207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10F53"/>
                </a:solidFill>
              </a:rPr>
              <a:t>100 пользователей: отклик 1,8 секунды. 825 записей в базу в секунду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0A4B9D71-43CE-4C1C-BF7F-B60A8B578216}"/>
              </a:ext>
            </a:extLst>
          </p:cNvPr>
          <p:cNvSpPr>
            <a:spLocks noGrp="1"/>
          </p:cNvSpPr>
          <p:nvPr>
            <p:ph type="body" sz="quarter" idx="47"/>
          </p:nvPr>
        </p:nvSpPr>
        <p:spPr>
          <a:xfrm>
            <a:off x="7269712" y="4616873"/>
            <a:ext cx="3866856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310F53"/>
                </a:solidFill>
              </a:rPr>
              <a:t>Рекомендации заказчика</a:t>
            </a:r>
            <a:endParaRPr lang="ru-RU">
              <a:solidFill>
                <a:srgbClr val="F92571"/>
              </a:solidFill>
            </a:endParaRPr>
          </a:p>
        </p:txBody>
      </p:sp>
      <p:sp>
        <p:nvSpPr>
          <p:cNvPr id="13" name="Текст 12">
            <a:extLst>
              <a:ext uri="{FF2B5EF4-FFF2-40B4-BE49-F238E27FC236}">
                <a16:creationId xmlns:a16="http://schemas.microsoft.com/office/drawing/2014/main" id="{FB764737-E500-486A-BC57-2CFC01C3D8BB}"/>
              </a:ext>
            </a:extLst>
          </p:cNvPr>
          <p:cNvSpPr>
            <a:spLocks noGrp="1"/>
          </p:cNvSpPr>
          <p:nvPr>
            <p:ph type="body" sz="quarter" idx="48"/>
          </p:nvPr>
        </p:nvSpPr>
        <p:spPr>
          <a:xfrm>
            <a:off x="7269712" y="5164612"/>
            <a:ext cx="3866856" cy="672075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200">
                <a:solidFill>
                  <a:srgbClr val="310F53"/>
                </a:solidFill>
              </a:rPr>
              <a:t>10 рекомендаций от 16.10 отработаны, по каждой есть строка в матрице соответствия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02C18390-040F-49C6-B99F-AFF6DA22B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ЧТО ПРОВЕРЕНО</a:t>
            </a:r>
            <a:endParaRPr lang="ru-RU" dirty="0"/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83D68FBC-5A9C-4BE2-A173-8FBC9296615A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394052"/>
            <a:ext cx="771003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01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F7796DA3-237A-4B69-B5A0-A321BB471A9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501557" y="2998036"/>
            <a:ext cx="771003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02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01D31CD5-C50F-4F9F-AFD3-E6609DC7BFA0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501557" y="4582148"/>
            <a:ext cx="771003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03</a:t>
            </a:r>
            <a:endParaRPr lang="ru-RU" b="1" dirty="0">
              <a:solidFill>
                <a:schemeClr val="accent5"/>
              </a:solidFill>
            </a:endParaRP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D87BAA27-328A-476A-8933-B54F5113B8B6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6194020" y="1394052"/>
            <a:ext cx="771003" cy="423628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04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19" name="Текст 18">
            <a:extLst>
              <a:ext uri="{FF2B5EF4-FFF2-40B4-BE49-F238E27FC236}">
                <a16:creationId xmlns:a16="http://schemas.microsoft.com/office/drawing/2014/main" id="{7AFF5BE7-0C00-42D9-8BA8-D1F40F4F4492}"/>
              </a:ext>
            </a:extLst>
          </p:cNvPr>
          <p:cNvSpPr>
            <a:spLocks noGrp="1"/>
          </p:cNvSpPr>
          <p:nvPr>
            <p:ph type="body" sz="quarter" idx="53"/>
          </p:nvPr>
        </p:nvSpPr>
        <p:spPr>
          <a:xfrm>
            <a:off x="6174664" y="2998036"/>
            <a:ext cx="771003" cy="403756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05</a:t>
            </a:r>
            <a:endParaRPr lang="ru-RU" b="1">
              <a:solidFill>
                <a:schemeClr val="accent5"/>
              </a:solidFill>
            </a:endParaRPr>
          </a:p>
        </p:txBody>
      </p:sp>
      <p:sp>
        <p:nvSpPr>
          <p:cNvPr id="20" name="Текст 19">
            <a:extLst>
              <a:ext uri="{FF2B5EF4-FFF2-40B4-BE49-F238E27FC236}">
                <a16:creationId xmlns:a16="http://schemas.microsoft.com/office/drawing/2014/main" id="{82867CCA-8241-4FD6-A117-F3A419838853}"/>
              </a:ext>
            </a:extLst>
          </p:cNvPr>
          <p:cNvSpPr>
            <a:spLocks noGrp="1"/>
          </p:cNvSpPr>
          <p:nvPr>
            <p:ph type="body" sz="quarter" idx="54"/>
          </p:nvPr>
        </p:nvSpPr>
        <p:spPr>
          <a:xfrm>
            <a:off x="6174664" y="4582148"/>
            <a:ext cx="771003" cy="403913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b="1">
                <a:solidFill>
                  <a:srgbClr val="FC3777"/>
                </a:solidFill>
              </a:rPr>
              <a:t>06</a:t>
            </a:r>
            <a:endParaRPr lang="ru-RU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50984224"/>
      </p:ext>
    </p:extLst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УНИКАЛЬНОСТЬ РЕШЕНИЯ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Рабочее место повторяет живой АРМ-112, сверено по скриншотам заказчика.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Виртуальный телефон: справочник, собеседники торопят, «машин нет», осложнение на месте, доклады бригады.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Работает в закрытом контуре на процессоре, без интернета и без видеокарты.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Оценка объяснимая: ошибки словами памятки, подсчёт проверен 408 сверками.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ИИ сам формирует задания, оценивает и даёт советы без участия преподавателя.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РЕКОМЕНДАЦИИ ЗАКАЗЧИКА: ЧТО СДЕЛАНО (1 из 2)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1. Доступ к прототипу: стенд работает по ссылке из любой сети, проверен с чужого устройства.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2. Логины и пароли по ролям на главной: таблица на странице входа, вход в один клик.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3. Документация в PDF: техническое описание, руководства администратора, преподавателя и обучаемого на диске.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4. Главная панель как в оригинале: журнал и карточка сверены со скриншотами заказчика.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5. Функции оператора 112 скрыты, включает только администратор. Приоритет: диспетчер ДДС.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РЕКОМЕНДАЦИИ ЗАКАЗЧИКА: ЧТО СДЕЛАНО (2 из 2)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6. Экран обучаемого ДДС не изменён. Экраны преподавателя и администратора разгружены.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7. Подсказки по интерфейсу: режим «подсказки» в панели тренажёра, справочник с памяткой, горячие клавиши.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8. Виртуальный телефон: зелёный кружок, набор номера, справочник до 10 номеров, роли заказчика.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9. Видео учебной сети «преподаватель и два обучаемых»: разные задания, оценка и советы без преподавателя.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10. ИИ формирует карточки, выдаёт обучаемым, оценивает и даёт рекомендации без участия преподавателя.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rPr>
                <a:solidFill>
                  <a:srgbClr val="310F53"/>
                </a:solidFill>
              </a:rPr>
              <a:t>ПЛАНЫ ПО РАЗВИТИЮ</a:t>
            </a:r>
            <a:endParaRPr lang="ru-RU" sz="2000" dirty="0">
              <a:solidFill>
                <a:schemeClr val="accent5"/>
              </a:solidFill>
            </a:endParaRP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Расшифровка сценариев реагирования заказчика для более точной оценки.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Вход через каталог учётных записей учебного центра.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Режим аттестации с протоколом и сертификатом.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Ролевой режим: преподаватель играет начальника службы. Настольный SIP-аппарат диспетчера.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310F53"/>
                </a:solidFill>
              </a:rPr>
              <a:t>Перенос в другие регионы: свой классификатор и своя памятка.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Работает без интернета, на обычном сервере без видеокарты.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Экран диспетчера один в один с АРМ-112 заказчика, оценка по его памятке и классификатору.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Собеседники в телефоне ведут себя как живые: торопят, уточняют, докладывают с места.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Цыганков Константин, руководитель проекта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Участников: 2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Команда семейная: отец и сын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Опыт: телефонные платформы, голосовые роботы, разработка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Город: 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t>Тренажёр диспетчера ДДС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Тренажёр рабочего места диспетчера ДДС, подключённой к системе 112.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Обучающийся принимает карточку от 112, работает в норматив, с виртуального телефона звонит руководителям и бригаде.</a:t>
            </a:r>
          </a:p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ИИ формирует задания, проверяет каждое действие и объясняет оценку.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  <p:pic>
        <p:nvPicPr>
          <p:cNvPr id="19" name="Picture 18" descr="stand-06-journal-fi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35267"/>
            <a:ext cx="6456363" cy="2971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Разработка, тестирование, стенд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@VadimTsu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+7 902 851-14-49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Вадим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Цыганков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Состав команды</a:t>
            </a:r>
            <a:endParaRPr lang="ru-RU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Капитан, архитектура и телефония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@Konsttsyg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+7 982 598-49-15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Москва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Константин</a:t>
            </a:r>
          </a:p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Цыганков</a:t>
            </a:r>
          </a:p>
        </p:txBody>
      </p:sp>
      <p:pic>
        <p:nvPicPr>
          <p:cNvPr id="59" name="Picture 58" descr="konstantin-fi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397" y="1816054"/>
            <a:ext cx="1722566" cy="1552901"/>
          </a:xfrm>
          <a:prstGeom prst="rect">
            <a:avLst/>
          </a:prstGeom>
        </p:spPr>
      </p:pic>
      <p:pic>
        <p:nvPicPr>
          <p:cNvPr id="60" name="Picture 59" descr="vadim-fi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6467" y="1826554"/>
            <a:ext cx="1722566" cy="1542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О команде</a:t>
            </a:r>
            <a:endParaRPr lang="ru-RU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Отец и сын. У одного телефонные платформы и голосовые роботы, у другого разработка и автоматизация. Вместе ведём продукт для колл-центров, поэтому вызовы и очереди это наша ежедневная работа.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Главное ограничение заказчика: без интернета и без видеокарты. Мы перевернули задачу: заявитель говорит только утверждённые преподавателем реплики, а модель понимает вопрос и выбирает подходящую. Ответ около секунды на обычном процессоре.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Второй поворот: из ответов заказчика выяснилось, что учить надо диспетчера ДДС, а не оператора 112, и что главное в телефонии это исходящие звонки в службы.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Задачу выбрали потому, что телефония и обработка вызовов наша область. Здесь от качества работы диспетчера зависит, как быстро приедет помощь.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D2A0318-C089-B05C-98D0-C8E15942D3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252" y="904538"/>
            <a:ext cx="4551334" cy="3557364"/>
          </a:xfrm>
          <a:prstGeom prst="rect">
            <a:avLst/>
          </a:prstGeom>
        </p:spPr>
      </p:pic>
      <p:sp>
        <p:nvSpPr>
          <p:cNvPr id="2" name="Рисунок 1">
            <a:extLst>
              <a:ext uri="{FF2B5EF4-FFF2-40B4-BE49-F238E27FC236}">
                <a16:creationId xmlns:a16="http://schemas.microsoft.com/office/drawing/2014/main" id="{38C461D0-0D39-4FD3-8AD4-0E832E88796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068417" y="1187395"/>
            <a:ext cx="3988905" cy="3000292"/>
          </a:xfrm>
          <a:prstGeom prst="roundRect">
            <a:avLst>
              <a:gd name="adj" fmla="val 3416"/>
            </a:avLst>
          </a:prstGeom>
          <a:noFill/>
          <a:ln>
            <a:noFill/>
          </a:ln>
        </p:spPr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26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310F53"/>
                </a:solidFill>
              </a:rPr>
              <a:t>Рабочий стенд</a:t>
            </a:r>
            <a:endParaRPr lang="ru-RU" dirty="0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10F53"/>
                </a:solidFill>
              </a:rPr>
              <a:t>https://155-212-186-2.sslip.io, логины и пароли на странице входа.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310F53"/>
                </a:solidFill>
              </a:rPr>
              <a:t>Репозиторий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10F53"/>
                </a:solidFill>
              </a:rPr>
              <a:t>github.com/Vadik145-beep/lct-112-simulator: открытый код, запуск одной командой, ссылки на всё в README.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310F53"/>
                </a:solidFill>
              </a:rPr>
              <a:t>Видео и документы</a:t>
            </a:r>
            <a:endParaRPr lang="ru-RU">
              <a:solidFill>
                <a:schemeClr val="tx1"/>
              </a:solidFill>
            </a:endParaRPr>
          </a:p>
          <a:p>
            <a:pPr>
              <a:spcAft>
                <a:spcPts val="800"/>
              </a:spcAft>
            </a:pPr>
            <a:r>
              <a:rPr sz="1300">
                <a:solidFill>
                  <a:srgbClr val="310F53"/>
                </a:solidFill>
              </a:rPr>
              <a:t>Два ролика: демонстрация и учебная сеть из трёх ПК. Четыре PDF: техописание и руководства.</a:t>
            </a:r>
            <a:endParaRPr lang="ru-RU">
              <a:solidFill>
                <a:schemeClr val="tx1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ГДЕ ПОСМОТРЕТЬ</a:t>
            </a:r>
            <a:endParaRPr lang="ru-RU" dirty="0"/>
          </a:p>
        </p:txBody>
      </p:sp>
      <p:pic>
        <p:nvPicPr>
          <p:cNvPr id="13" name="Picture 12" descr="demo-fi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8417" y="1187395"/>
            <a:ext cx="3988905" cy="3000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989456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