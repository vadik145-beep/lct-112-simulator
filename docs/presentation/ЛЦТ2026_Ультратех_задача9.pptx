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71" r:id="rId17"/>
    <p:sldId id="370" r:id="rId16"/>
    <p:sldId id="262" r:id="rId21"/>
    <p:sldId id="374" r:id="rId18"/>
    <p:sldId id="260" r:id="rId19"/>
    <p:sldId id="269" r:id="rId27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6" Type="http://schemas.openxmlformats.org/officeDocument/2006/relationships/slide" Target="slides/slide8.xml"/><Relationship Id="rId17" Type="http://schemas.openxmlformats.org/officeDocument/2006/relationships/slide" Target="slides/slide7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1" Type="http://schemas.openxmlformats.org/officeDocument/2006/relationships/slide" Target="slides/slide9.xml"/><Relationship Id="rId25" Type="http://schemas.openxmlformats.org/officeDocument/2006/relationships/slide" Target="slides/slide6.xml"/><Relationship Id="rId27" Type="http://schemas.openxmlformats.org/officeDocument/2006/relationships/slide" Target="slides/slide12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4.png"/><Relationship Id="rId3" Type="http://schemas.openxmlformats.org/officeDocument/2006/relationships/image" Target="../media/image32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t>Ультратех</a:t>
            </a:r>
            <a:endParaRPr lang="ru-RU" sz="4800" dirty="0"/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F88AFFF3-DF8C-2AA0-1E6F-AEE5FC354BA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5186" y="329801"/>
            <a:ext cx="5193299" cy="1082589"/>
          </a:xfrm>
        </p:spPr>
        <p:txBody>
          <a:bodyPr/>
          <a:p/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t>Задача № 9. Учебное программное обеспечение для подготовки оператора ДДС города Москвы с использованием искусственного интеллекта. Постановщик: Департамент ГОЧСиПБ города Москвы, ГБУ «Система 112»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2" name="Рисунок 1" descr="stand-06-journal.pn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5000" b="29700"/>
          <a:stretch>
            <a:fillRect/>
          </a:stretch>
        </p:blipFill>
        <p:spPr>
          <a:xfrm>
            <a:off x="0" y="338328"/>
            <a:ext cx="6455664" cy="2633472"/>
          </a:xfr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100">
                <a:solidFill>
                  <a:schemeClr val="tx1"/>
                </a:solidFill>
              </a:rPr>
              <a:t>Работает без интернета, на обычном сервере без видеокарты: голос, оценка и аналитика считаются внутри контура.</a:t>
            </a:r>
          </a:p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100">
                <a:solidFill>
                  <a:schemeClr val="tx1"/>
                </a:solidFill>
              </a:rPr>
              <a:t>Оценка построена на настоящих правилах: классификатор на 1284 типа происшествий, статусы реагирования и перечень нарушений из официальной памятки.</a:t>
            </a:r>
          </a:p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100">
                <a:solidFill>
                  <a:schemeClr val="tx1"/>
                </a:solidFill>
              </a:rPr>
              <a:t>Прогноз готовности к аттестации показывается вместе с проверкой его достоверности.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Цыганков Константин, руководитель проекта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Участников: 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Команда семейная: отец и сын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Опыт: телефонные платформы, голосовые роботы, разработка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Город: 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>
                <a:solidFill>
                  <a:srgbClr val="310F53"/>
                </a:solidFill>
              </a:rPr>
              <a:t>Тренажёр диспетчера ДДС-112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100">
                <a:solidFill>
                  <a:schemeClr val="tx1"/>
                </a:solidFill>
              </a:rPr>
              <a:t>Тренажёр повторяет рабочее место АРМ-112 и учит на материалах заказчика.</a:t>
            </a:r>
          </a:p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100">
                <a:solidFill>
                  <a:schemeClr val="tx1"/>
                </a:solidFill>
              </a:rPr>
              <a:t>Диспетчер получает карточку происшествия, принимает её за норматив 30 секунд, ведёт ход работ статусами, звонит в службы и принимает доклады бригады.</a:t>
            </a:r>
          </a:p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100">
                <a:solidFill>
                  <a:schemeClr val="tx1"/>
                </a:solidFill>
              </a:rPr>
              <a:t>Второй режим: приём вызова от заявителя, роль которого играет модель.</a:t>
            </a:r>
          </a:p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100">
                <a:solidFill>
                  <a:schemeClr val="tx1"/>
                </a:solidFill>
              </a:rPr>
              <a:t>Система сама оценивает действия по правилам памятки заказчика и объясняет каждый балл.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603467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620695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Разработка, тестирование, стенд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@VadimTsu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 XXX XXX-XX-XX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Москва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620695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Вадим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Цыганок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72935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3964677" y="1816054"/>
            <a:ext cx="1722566" cy="1552901"/>
          </a:xfrm>
        </p:spPr>
        <p:txBody>
          <a:bodyPr/>
          <a:p/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6269747" y="1826554"/>
            <a:ext cx="1722566" cy="1542401"/>
          </a:xfrm>
        </p:spPr>
        <p:txBody>
          <a:bodyPr/>
          <a:p/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Состав команды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90164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архитектура и телефония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@Konsttsyg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 XXX XXX-XX-XX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390163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Константин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Цыганков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О команде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 sz="1100">
                <a:solidFill>
                  <a:schemeClr val="tx1"/>
                </a:solidFill>
              </a:rPr>
              <a:t>Отец и сын. У одного телефонные платформы и голосовые роботы, у другого разработка и автоматизация. Вместе ведём продукт для колл-центров, поэтому вызовы и очереди это наша ежедневная работа.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100">
                <a:solidFill>
                  <a:schemeClr val="tx1"/>
                </a:solidFill>
              </a:rPr>
              <a:t>Сложнее всего было ограничение заказчика: без интернета и без видеокарты. Мы перевернули задачу: заявитель говорит только утверждённые преподавателем реплики, а модель понимает вопрос и выбирает подходящую. Ответ около секунды на обычном процессоре.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 sz="1100">
                <a:solidFill>
                  <a:schemeClr val="tx1"/>
                </a:solidFill>
              </a:rPr>
              <a:t>Второй поворот: из ответов заказчика выяснилось, что учить надо диспетчера ДДС, а не оператора 112, и что главное в телефонии это исходящие звонки в службы. Перестроили за день.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100">
                <a:solidFill>
                  <a:schemeClr val="tx1"/>
                </a:solidFill>
              </a:rPr>
              <a:t>Задачу выбрали потому, что телефония и обработка вызовов наша область. Здесь от качества работы диспетчера зависит, как быстро приедет помощь.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200" dirty="0">
                <a:solidFill>
                  <a:schemeClr val="tx1"/>
                </a:solidFill>
              </a:rPr>
              <a:t>Веб-приложение в закрытом контуре: интерфейс React, сервер Python и FastAPI, база PostgreSQL, телефония Asterisk с программным телефоном в браузере.</a:t>
            </a:r>
          </a:p>
          <a:p>
            <a:r>
              <a:rPr lang="ru-RU" sz="1200" dirty="0">
                <a:solidFill>
                  <a:schemeClr val="tx1"/>
                </a:solidFill>
              </a:rPr>
              <a:t>Искусственный интеллект работает локально: выбор реплики заявителя, генерация учебных сценариев, распознавание речи, синтез голоса, проверка грамотности. Адрес модели задаётся настройкой, поэтому её можно вынести на отдельный сервер.</a:t>
            </a:r>
          </a:p>
          <a:p>
            <a:r>
              <a:rPr lang="ru-RU" sz="1200" dirty="0">
                <a:solidFill>
                  <a:schemeClr val="tx1"/>
                </a:solidFill>
              </a:rPr>
              <a:t>Оценка это набор независимых правил: каждый балл объясняется, ошибки названы словами памятки заказчика.</a:t>
            </a:r>
          </a:p>
          <a:p>
            <a:r>
              <a:rPr lang="ru-RU" sz="1200" dirty="0">
                <a:solidFill>
                  <a:schemeClr val="tx1"/>
                </a:solidFill>
              </a:rPr>
              <a:t>Разворачивается одной командой, переносится в изолированный контур на носителе.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200" dirty="0">
                <a:solidFill>
                  <a:schemeClr val="tx1"/>
                </a:solidFill>
              </a:rPr>
              <a:t>Тренажёр нужен всем службам, подключённым к системе-112 Москвы, и учебным центрам: подготовка новых диспетчеров, периодическая переподготовка, аттестация.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200" dirty="0">
                <a:solidFill>
                  <a:schemeClr val="tx1"/>
                </a:solidFill>
              </a:rPr>
              <a:t>Дальше: расшифровка сценариев реагирования заказчика для более точной оценки, вход через каталог учётных записей учебного центра, режим аттестации с протоколом, свободный диалог с заявителем на сервере с видеокартой.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200" dirty="0">
                <a:solidFill>
                  <a:schemeClr val="tx1"/>
                </a:solidFill>
              </a:rPr>
              <a:t>Решение не привязано к Москве: классификатор и памятка подключаются файлами, поэтому тренажёр переносится в любой регион.</a:t>
            </a:r>
            <a:br>
              <a:rPr lang="ru-RU" sz="1400" dirty="0">
                <a:solidFill>
                  <a:schemeClr val="tx1"/>
                </a:solidFill>
              </a:rPr>
            </a:b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>
                <a:solidFill>
                  <a:srgbClr val="310F53"/>
                </a:solidFill>
              </a:rPr>
              <a:t>К системе-112 Москвы подключены сотни дежурных служб.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310F53"/>
                </a:solidFill>
              </a:rPr>
              <a:t>Карточка происшествия уходит в свою ДДС: коммунальную, транспортную, управу района.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>
                <a:solidFill>
                  <a:srgbClr val="310F53"/>
                </a:solidFill>
              </a:rPr>
              <a:t>Диспетчер обязан подтвердить приём карточки за 30 секунд.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310F53"/>
                </a:solidFill>
              </a:rPr>
              <a:t>Не успел или не оповестил службу по телефону, и карточка уходит в отметку «Не оповещено», а помощь опаздывает.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>
                <a:solidFill>
                  <a:srgbClr val="310F53"/>
                </a:solidFill>
              </a:rPr>
              <a:t>Специализированного тренажёра для этой работы нет.</a:t>
            </a:r>
            <a:endParaRPr lang="ru-RU">
              <a:solidFill>
                <a:schemeClr val="tx1"/>
              </a:solidFill>
            </a:endParaRPr>
          </a:p>
          <a:p>
            <a:r>
              <a:rPr sz="1300">
                <a:solidFill>
                  <a:srgbClr val="310F53"/>
                </a:solidFill>
              </a:rPr>
              <a:t>Учат на живых вызовах, где цена ошибки это время приезда бригады.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ПРОБЛЕМА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r>
              <a:rPr sz="1100" b="1">
                <a:solidFill>
                  <a:srgbClr val="310F53"/>
                </a:solidFill>
              </a:rPr>
              <a:t>Диспетчер ДДС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r>
              <a:rPr sz="1100">
                <a:solidFill>
                  <a:srgbClr val="310F53"/>
                </a:solidFill>
              </a:rPr>
              <a:t>Карточка приходит от оператора 112. Обучающийся принимает её в норматив, ведёт статусы, звонит дежурному службы и принимает доклады бригады по телефону.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r>
              <a:rPr sz="1100" b="1">
                <a:solidFill>
                  <a:srgbClr val="310F53"/>
                </a:solidFill>
              </a:rPr>
              <a:t>Оператор 112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r>
              <a:rPr sz="1100">
                <a:solidFill>
                  <a:srgbClr val="310F53"/>
                </a:solidFill>
              </a:rPr>
              <a:t>Звонок заявителя, роль которого играет модель. Обучающийся ведёт опрос, заполняет адрес и опросную карту, выбирает службы.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r>
              <a:rPr sz="1100" b="1">
                <a:solidFill>
                  <a:srgbClr val="310F53"/>
                </a:solidFill>
              </a:rPr>
              <a:t>Преподаватель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r>
              <a:rPr sz="1100">
                <a:solidFill>
                  <a:srgbClr val="310F53"/>
                </a:solidFill>
              </a:rPr>
              <a:t>Создаёт занятие из сценариев, видит группу вживую, получает отчёт, аналитику слабых мест и прогноз готовности к аттестации.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r>
              <a:rPr sz="1100" b="1">
                <a:solidFill>
                  <a:srgbClr val="310F53"/>
                </a:solidFill>
              </a:rPr>
              <a:t>Администратор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r>
              <a:rPr sz="1100">
                <a:solidFill>
                  <a:srgbClr val="310F53"/>
                </a:solidFill>
              </a:rPr>
              <a:t>Пользователи и роли, состояние сервисов, журнал аудита, резервные копии и восстановление.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ЧТО УМЕЕТ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r>
              <a:rPr sz="1100" b="1">
                <a:solidFill>
                  <a:srgbClr val="FC3777"/>
                </a:solidFill>
              </a:rPr>
              <a:t>01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r>
              <a:rPr sz="1100" b="1">
                <a:solidFill>
                  <a:srgbClr val="FC3777"/>
                </a:solidFill>
              </a:rPr>
              <a:t>02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r>
              <a:rPr sz="1100" b="1">
                <a:solidFill>
                  <a:srgbClr val="FC3777"/>
                </a:solidFill>
              </a:rPr>
              <a:t>03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r>
              <a:rPr sz="1100" b="1">
                <a:solidFill>
                  <a:srgbClr val="FC3777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t>КАК УСТРОЕНО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r>
              <a:rPr sz="1200">
                <a:solidFill>
                  <a:srgbClr val="310F53"/>
                </a:solidFill>
              </a:rPr>
              <a:t>Рабочее место в браузере: эмулятор АРМ-112 и программный телефон. Поддерживается и настольный IP-телефон заказчика.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r>
              <a:rPr sz="1200">
                <a:solidFill>
                  <a:srgbClr val="310F53"/>
                </a:solidFill>
              </a:rPr>
              <a:t>Сервер приложения: занятия, карточки, оценка, отчёты. Python и FastAPI, база PostgreSQL, очередь фоновых задач.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r>
              <a:rPr sz="1200">
                <a:solidFill>
                  <a:srgbClr val="310F53"/>
                </a:solidFill>
              </a:rPr>
              <a:t>Искусственный интеллект внутри контура: выбор реплики заявителя, генерация сценариев, распознавание речи, синтез голоса, проверка грамотности.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r>
              <a:rPr sz="1200">
                <a:solidFill>
                  <a:srgbClr val="310F53"/>
                </a:solidFill>
              </a:rPr>
              <a:t>Телефония: Asterisk. Звонок заявителя обучающемуся, звонок диспетчера дежурному службы, входящие доклады бригады, запись разговоров.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r>
              <a:rPr sz="1200">
                <a:solidFill>
                  <a:srgbClr val="310F53"/>
                </a:solidFill>
              </a:rPr>
              <a:t>Данные заказчика: классификатор происшествий, памятка по работе с АРМ-112, 96 учебных билетов. Ничего не выдумано.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sz="1200">
                <a:solidFill>
                  <a:srgbClr val="310F53"/>
                </a:solidFill>
              </a:rPr>
              <a:t>Балл не берётся из воздуха: он раскладывается на составляющие, и по каждой видно, что именно потеряно.</a:t>
            </a:r>
            <a:endParaRPr lang="ru-RU" sz="3600" b="1">
              <a:solidFill>
                <a:schemeClr val="tx1"/>
              </a:solidFill>
            </a:endParaRPr>
          </a:p>
          <a:p>
            <a:pPr algn="l"/>
            <a:r>
              <a:rPr sz="1200">
                <a:solidFill>
                  <a:srgbClr val="310F53"/>
                </a:solidFill>
              </a:rPr>
              <a:t>Названия ошибок взяты из официальной памятки заказчика, со ссылкой на страницу.</a:t>
            </a:r>
            <a:endParaRPr lang="ru-RU" sz="3600" b="1">
              <a:solidFill>
                <a:schemeClr val="tx1"/>
              </a:solidFill>
            </a:endParaRPr>
          </a:p>
          <a:p>
            <a:pPr algn="l"/>
            <a:r>
              <a:rPr sz="1200">
                <a:solidFill>
                  <a:srgbClr val="310F53"/>
                </a:solidFill>
              </a:rPr>
              <a:t>Преподаватель может изменить итог, указав причину: изменение остаётся в журнале.</a:t>
            </a:r>
            <a:endParaRPr lang="ru-RU" sz="3600" b="1">
              <a:solidFill>
                <a:schemeClr val="tx1"/>
              </a:solidFill>
            </a:endParaRPr>
          </a:p>
          <a:p>
            <a:pPr algn="l"/>
            <a:r>
              <a:rPr sz="1200">
                <a:solidFill>
                  <a:srgbClr val="310F53"/>
                </a:solidFill>
              </a:rPr>
              <a:t>Сам подсчёт проверен независимым пересчётом на живых звонках: 12 звонков, 408 проверок, расхождений нет.</a:t>
            </a:r>
            <a:endParaRPr lang="ru-RU" sz="3600" b="1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200">
                <a:solidFill>
                  <a:srgbClr val="310F53"/>
                </a:solidFill>
              </a:rPr>
              <a:t>Решение: принять или отклонить, и обоснование отказа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200">
                <a:solidFill>
                  <a:srgbClr val="310F53"/>
                </a:solidFill>
              </a:rPr>
              <a:t>Время: первичный статус против норматива 30 секунд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200">
                <a:solidFill>
                  <a:srgbClr val="310F53"/>
                </a:solidFill>
              </a:rPr>
              <a:t>Цепочка статусов: начало реагирования, прибытие, работы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200">
                <a:solidFill>
                  <a:srgbClr val="310F53"/>
                </a:solidFill>
              </a:rPr>
              <a:t>Звонки в службы: что передано дежурному и что упущено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200">
                <a:solidFill>
                  <a:srgbClr val="310F53"/>
                </a:solidFill>
              </a:rPr>
              <a:t>Комментарии и грамотность: полнота записей и ошибки в тексте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ОЦЕНКА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r>
              <a:rPr sz="1100" b="1">
                <a:solidFill>
                  <a:srgbClr val="310F53"/>
                </a:solidFill>
              </a:rPr>
              <a:t>Заявитель под контролем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r>
              <a:rPr sz="1100">
                <a:solidFill>
                  <a:srgbClr val="310F53"/>
                </a:solidFill>
              </a:rPr>
              <a:t>Заявитель отвечает только теми репликами, которые утвердил преподаватель. Модель понимает вопрос и выбирает подходящую, поэтому выдумать ничего не может. Точность выбора реплики 95 процентов.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r>
              <a:rPr sz="1100" b="1">
                <a:solidFill>
                  <a:srgbClr val="310F53"/>
                </a:solidFill>
              </a:rPr>
              <a:t>Скорость на процессоре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r>
              <a:rPr sz="1100">
                <a:solidFill>
                  <a:srgbClr val="310F53"/>
                </a:solidFill>
              </a:rPr>
              <a:t>Ответ текстом около 0,9 секунды, голосом около 1,7 секунды на сервере без видеокарты. Распознавание речи, синтез и проверка грамотности тоже локальные.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r>
              <a:rPr sz="1100" b="1">
                <a:solidFill>
                  <a:srgbClr val="310F53"/>
                </a:solidFill>
              </a:rPr>
              <a:t>Масштабируется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r>
              <a:rPr sz="1100">
                <a:solidFill>
                  <a:srgbClr val="310F53"/>
                </a:solidFill>
              </a:rPr>
              <a:t>Адрес модели задаётся настройкой: её можно вынести на сервер с видеокартой или, если заказчик разрешит, на внешний сервис. Тогда диалог становится свободным.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t>ИИ БЕЗ ОБЛАКА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r>
              <a:rPr sz="1100" b="1">
                <a:solidFill>
                  <a:srgbClr val="FC3777"/>
                </a:solidFill>
              </a:rPr>
              <a:t>01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r>
              <a:rPr sz="1100" b="1">
                <a:solidFill>
                  <a:srgbClr val="FC3777"/>
                </a:solidFill>
              </a:rPr>
              <a:t>02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r>
              <a:rPr sz="1100" b="1">
                <a:solidFill>
                  <a:srgbClr val="FC3777"/>
                </a:solidFill>
              </a:rPr>
              <a:t>03</a:t>
            </a:r>
            <a:endParaRPr lang="ru-RU" sz="44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615961" y="1428777"/>
            <a:ext cx="3866856" cy="423628"/>
          </a:xfrm>
        </p:spPr>
        <p:txBody>
          <a:bodyPr/>
          <a:lstStyle/>
          <a:p>
            <a:r>
              <a:rPr sz="1000" b="1">
                <a:solidFill>
                  <a:srgbClr val="310F53"/>
                </a:solidFill>
              </a:rPr>
              <a:t>Классификатор заказчика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1615964" y="1996388"/>
            <a:ext cx="3866856" cy="672075"/>
          </a:xfrm>
        </p:spPr>
        <p:txBody>
          <a:bodyPr/>
          <a:lstStyle/>
          <a:p>
            <a:r>
              <a:rPr sz="1000">
                <a:solidFill>
                  <a:srgbClr val="310F53"/>
                </a:solidFill>
              </a:rPr>
              <a:t>1284 типа происшествий, службы подбираются по признакам карточки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1596605" y="3032761"/>
            <a:ext cx="3866856" cy="403756"/>
          </a:xfrm>
        </p:spPr>
        <p:txBody>
          <a:bodyPr/>
          <a:lstStyle/>
          <a:p>
            <a:r>
              <a:rPr sz="1000" b="1">
                <a:solidFill>
                  <a:srgbClr val="310F53"/>
                </a:solidFill>
              </a:rPr>
              <a:t>Памятка по работе с АРМ-112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596605" y="3580500"/>
            <a:ext cx="3866856" cy="672075"/>
          </a:xfrm>
        </p:spPr>
        <p:txBody>
          <a:bodyPr/>
          <a:lstStyle/>
          <a:p>
            <a:r>
              <a:rPr sz="1000">
                <a:solidFill>
                  <a:srgbClr val="310F53"/>
                </a:solidFill>
              </a:rPr>
              <a:t>Статусы реагирования и виды типичных нарушений, по ним названы ошибки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96605" y="4616873"/>
            <a:ext cx="3866856" cy="403913"/>
          </a:xfrm>
        </p:spPr>
        <p:txBody>
          <a:bodyPr/>
          <a:lstStyle/>
          <a:p>
            <a:r>
              <a:rPr sz="1000" b="1">
                <a:solidFill>
                  <a:srgbClr val="310F53"/>
                </a:solidFill>
              </a:rPr>
              <a:t>96 учебных билетов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1596605" y="5164612"/>
            <a:ext cx="3866856" cy="672075"/>
          </a:xfrm>
        </p:spPr>
        <p:txBody>
          <a:bodyPr/>
          <a:lstStyle/>
          <a:p>
            <a:r>
              <a:rPr sz="1000">
                <a:solidFill>
                  <a:srgbClr val="310F53"/>
                </a:solidFill>
              </a:rPr>
              <a:t>Ситуации заказчика распознаны и превращены в учебные сценарии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289068" y="1428777"/>
            <a:ext cx="3866856" cy="423628"/>
          </a:xfrm>
        </p:spPr>
        <p:txBody>
          <a:bodyPr/>
          <a:lstStyle/>
          <a:p>
            <a:r>
              <a:rPr sz="1000" b="1">
                <a:solidFill>
                  <a:srgbClr val="310F53"/>
                </a:solidFill>
              </a:rPr>
              <a:t>Соответствие техническому заданию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7289071" y="1996388"/>
            <a:ext cx="3866856" cy="672075"/>
          </a:xfrm>
        </p:spPr>
        <p:txBody>
          <a:bodyPr/>
          <a:lstStyle/>
          <a:p>
            <a:r>
              <a:rPr sz="1000">
                <a:solidFill>
                  <a:srgbClr val="310F53"/>
                </a:solidFill>
              </a:rPr>
              <a:t>174 пункта в таблице: 155 выполнено, по каждому указано, где и как проверить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7269712" y="3032761"/>
            <a:ext cx="3866856" cy="403756"/>
          </a:xfrm>
        </p:spPr>
        <p:txBody>
          <a:bodyPr/>
          <a:lstStyle/>
          <a:p>
            <a:r>
              <a:rPr sz="1000" b="1">
                <a:solidFill>
                  <a:srgbClr val="310F53"/>
                </a:solidFill>
              </a:rPr>
              <a:t>Скорость под нагрузкой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7269712" y="3580500"/>
            <a:ext cx="3866856" cy="672075"/>
          </a:xfrm>
        </p:spPr>
        <p:txBody>
          <a:bodyPr/>
          <a:lstStyle/>
          <a:p>
            <a:r>
              <a:rPr sz="1000">
                <a:solidFill>
                  <a:srgbClr val="310F53"/>
                </a:solidFill>
              </a:rPr>
              <a:t>100 пользователей: отклик 1,8 секунды. 20 занятий одновременно. 825 записей в базу в секунду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7269712" y="4616873"/>
            <a:ext cx="3866856" cy="403913"/>
          </a:xfrm>
        </p:spPr>
        <p:txBody>
          <a:bodyPr/>
          <a:lstStyle/>
          <a:p>
            <a:r>
              <a:rPr sz="1000" b="1">
                <a:solidFill>
                  <a:srgbClr val="310F53"/>
                </a:solidFill>
              </a:rPr>
              <a:t>Проверка расчётов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7269712" y="5164612"/>
            <a:ext cx="3866856" cy="672075"/>
          </a:xfrm>
        </p:spPr>
        <p:txBody>
          <a:bodyPr/>
          <a:lstStyle/>
          <a:p>
            <a:r>
              <a:rPr sz="1000">
                <a:solidFill>
                  <a:srgbClr val="310F53"/>
                </a:solidFill>
              </a:rPr>
              <a:t>12 живых звонков и 408 проверок подсчёта баллов без единого расхождения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ЧТО ПРОВЕРЕНО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394052"/>
            <a:ext cx="771003" cy="423628"/>
          </a:xfrm>
        </p:spPr>
        <p:txBody>
          <a:bodyPr/>
          <a:lstStyle/>
          <a:p>
            <a:r>
              <a:rPr sz="1000" b="1">
                <a:solidFill>
                  <a:srgbClr val="FC3777"/>
                </a:solidFill>
              </a:rPr>
              <a:t>01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501557" y="2998036"/>
            <a:ext cx="771003" cy="403756"/>
          </a:xfrm>
        </p:spPr>
        <p:txBody>
          <a:bodyPr/>
          <a:lstStyle/>
          <a:p>
            <a:r>
              <a:rPr sz="1000" b="1">
                <a:solidFill>
                  <a:srgbClr val="FC3777"/>
                </a:solidFill>
              </a:rPr>
              <a:t>02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501557" y="4582148"/>
            <a:ext cx="771003" cy="403913"/>
          </a:xfrm>
        </p:spPr>
        <p:txBody>
          <a:bodyPr/>
          <a:lstStyle/>
          <a:p>
            <a:r>
              <a:rPr sz="1000" b="1">
                <a:solidFill>
                  <a:srgbClr val="FC3777"/>
                </a:solidFill>
              </a:rPr>
              <a:t>03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6194020" y="1394052"/>
            <a:ext cx="771003" cy="423628"/>
          </a:xfrm>
        </p:spPr>
        <p:txBody>
          <a:bodyPr/>
          <a:lstStyle/>
          <a:p>
            <a:r>
              <a:rPr sz="1000" b="1">
                <a:solidFill>
                  <a:srgbClr val="FC3777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6174664" y="2998036"/>
            <a:ext cx="771003" cy="403756"/>
          </a:xfrm>
        </p:spPr>
        <p:txBody>
          <a:bodyPr/>
          <a:lstStyle/>
          <a:p>
            <a:r>
              <a:rPr sz="1000" b="1">
                <a:solidFill>
                  <a:srgbClr val="FC3777"/>
                </a:solidFill>
              </a:rPr>
              <a:t>05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6174664" y="4582148"/>
            <a:ext cx="771003" cy="403913"/>
          </a:xfrm>
        </p:spPr>
        <p:txBody>
          <a:bodyPr/>
          <a:lstStyle/>
          <a:p>
            <a:r>
              <a:rPr sz="1000" b="1">
                <a:solidFill>
                  <a:srgbClr val="FC3777"/>
                </a:solidFill>
              </a:rPr>
              <a:t>06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64C56CA4-DEF9-5625-89CB-6C07486C2532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D2A0318-C089-B05C-98D0-C8E15942D3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52" y="904538"/>
            <a:ext cx="4551334" cy="3557364"/>
          </a:xfrm>
          <a:prstGeom prst="rect">
            <a:avLst/>
          </a:prstGeom>
        </p:spPr>
      </p:pic>
      <p:pic>
        <p:nvPicPr>
          <p:cNvPr id="2" name="Рисунок 1" descr="stand-07-card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l="8453" r="8453"/>
          <a:stretch>
            <a:fillRect/>
          </a:stretch>
        </p:blipFill>
        <p:spPr/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52D5942-B353-44B0-BA5B-56640646D1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C247253-002A-413B-B1BF-2661F6820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sz="1200" b="1">
                <a:solidFill>
                  <a:srgbClr val="310F53"/>
                </a:solidFill>
              </a:rPr>
              <a:t>Рабочий стенд</a:t>
            </a:r>
            <a:endParaRPr lang="ru-RU" dirty="0">
              <a:solidFill>
                <a:schemeClr val="tx1"/>
              </a:solidFill>
            </a:endParaRPr>
          </a:p>
          <a:p>
            <a:r>
              <a:rPr sz="1200">
                <a:solidFill>
                  <a:srgbClr val="310F53"/>
                </a:solidFill>
              </a:rPr>
              <a:t>Адрес и демонстрационные логины в форме сдачи. Логины показаны прямо на странице входа.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1719752-EED6-4EE5-BE5A-FB401278B9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sz="1200" b="1">
                <a:solidFill>
                  <a:srgbClr val="310F53"/>
                </a:solidFill>
              </a:rPr>
              <a:t>Репозиторий</a:t>
            </a:r>
            <a:endParaRPr lang="ru-RU">
              <a:solidFill>
                <a:schemeClr val="tx1"/>
              </a:solidFill>
            </a:endParaRPr>
          </a:p>
          <a:p>
            <a:r>
              <a:rPr sz="1200">
                <a:solidFill>
                  <a:srgbClr val="310F53"/>
                </a:solidFill>
              </a:rPr>
              <a:t>Открытый код, запуск одной командой, документация и маршрут проверки за 10 минут в docs/EXPERT_GUIDE.md.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616E677-DB7C-4B76-AAC0-44E0CBDD2C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sz="1200" b="1">
                <a:solidFill>
                  <a:srgbClr val="310F53"/>
                </a:solidFill>
              </a:rPr>
              <a:t>Видео</a:t>
            </a:r>
            <a:endParaRPr lang="ru-RU">
              <a:solidFill>
                <a:schemeClr val="tx1"/>
              </a:solidFill>
            </a:endParaRPr>
          </a:p>
          <a:p>
            <a:r>
              <a:rPr sz="1200">
                <a:solidFill>
                  <a:srgbClr val="310F53"/>
                </a:solidFill>
              </a:rPr>
              <a:t>Трёхминутная запись работы: звонок, карточка, оценка, аналитика. Ссылка в дополнительных материалах.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F4D2037-46B3-D253-D9E2-75E4F6E77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ГДЕ ПОСМОТРЕТЬ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99989456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