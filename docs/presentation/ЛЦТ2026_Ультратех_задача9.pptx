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1" r:id="rId17"/>
    <p:sldId id="370" r:id="rId16"/>
    <p:sldId id="262" r:id="rId21"/>
    <p:sldId id="374" r:id="rId18"/>
    <p:sldId id="260" r:id="rId19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6" Type="http://schemas.openxmlformats.org/officeDocument/2006/relationships/slide" Target="slides/slide8.xml"/><Relationship Id="rId17" Type="http://schemas.openxmlformats.org/officeDocument/2006/relationships/slide" Target="slides/slide7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1" Type="http://schemas.openxmlformats.org/officeDocument/2006/relationships/slide" Target="slides/slide9.xml"/><Relationship Id="rId25" Type="http://schemas.openxmlformats.org/officeDocument/2006/relationships/slide" Target="slides/slide6.xml"/><Relationship Id="rId27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Ультратех</a:t>
            </a:r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 9. Учебное программное обеспечение для подготовки оператора ДДС города Москвы с использованием искусственного интеллекта. Постановщик: Департамент ГОЧСиПБ города Москвы, ГБУ «Система 112»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tand-06-journal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5000" b="29700"/>
          <a:stretch>
            <a:fillRect/>
          </a:stretch>
        </p:blipFill>
        <p:spPr>
          <a:xfrm>
            <a:off x="0" y="338328"/>
            <a:ext cx="6455664" cy="2633472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Работает без интернета, на обычном сервере без видеокарты: голос, оценка и аналитика считаются внутри контура.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Оценка построена на настоящих правилах: классификатор на 1283 типа происшествий, статусы реагирования и перечень нарушений из официальной памятки.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Прогноз готовности к аттестации показывается вместе с проверкой его достоверности.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Цыганков Константин, руководитель проекта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Участников: 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Команда семейная: отец и сын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Опыт: телефонные платформы, голосовые роботы,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Тренажёр диспетчера ДДС-112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Тренажёр повторяет рабочее место АРМ-112 и учит на материалах заказчика.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Диспетчер получает карточку происшествия, принимает её за норматив 30 секунд, ведёт ход работ статусами, звонит в службы и принимает доклады бригады.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Второй режим: приём вызова от заявителя, роль которого играет модель.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Система сама оценивает действия по правилам памятки заказчика и объясняет каждый балл.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03467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0695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Разработка, тестирование, стенд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@VadimTsu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XXX XXX-XX-XX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0695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Вадим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Цыганок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72935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396467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269747" y="1826554"/>
            <a:ext cx="1722566" cy="1542401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0164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архитектура и телефония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@Konsttsyg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XXX XXX-XX-XX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0163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Константин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Отец и сын. У одного телефонные платформы и голосовые роботы, у другого разработка и автоматизация. Вместе ведём продукт для колл-центров, поэтому вызовы и очереди это наша ежедневная работа.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Сложнее всего было ограничение заказчика: без интернета и без видеокарты. Мы перевернули задачу: заявитель говорит только утверждённые преподавателем реплики, а модель понимает вопрос и выбирает подходящую. Ответ около секунды на обычном процессоре.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Второй поворот: из ответов заказчика выяснилось, что учить надо диспетчера ДДС, а не оператора 112, и что главное в телефонии это исходящие звонки в службы. Перестроили за день.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Задачу выбрали потому, что телефония и обработка вызовов наша область. Здесь от качества работы диспетчера зависит, как быстро приедет помощь.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Веб-приложение в закрытом контуре: интерфейс React, сервер Python и FastAPI, база PostgreSQL, телефония Asterisk с программным телефоном в браузере.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Искусственный интеллект работает локально: выбор реплики заявителя, генерация учебных сценариев, распознавание речи, синтез голоса, проверка грамотности. Адрес модели задаётся настройкой, поэтому её можно вынести на отдельный сервер.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Оценка это набор независимых правил: каждый балл объясняется, ошибки названы словами памятки заказчика.</a:t>
            </a:r>
          </a:p>
          <a:p>
            <a:r>
              <a:rPr lang="ru-RU" sz="1200" dirty="0">
                <a:solidFill>
                  <a:schemeClr val="tx1"/>
                </a:solidFill>
              </a:rPr>
              <a:t>Разворачивается одной командой, переносится в изолированный контур на носителе.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Тренажёр нужен всем службам, подключённым к системе-112 Москвы, и учебным центрам: подготовка новых диспетчеров, периодическая переподготовка, аттестация.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200" dirty="0">
                <a:solidFill>
                  <a:schemeClr val="tx1"/>
                </a:solidFill>
              </a:rPr>
              <a:t>Дальше: расшифровка сценариев реагирования заказчика для более точной оценки, вход через каталог учётных записей учебного центра, режим аттестации с протоколом, свободный диалог с заявителем на сервере с видеокартой.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200" dirty="0">
                <a:solidFill>
                  <a:schemeClr val="tx1"/>
                </a:solidFill>
              </a:rPr>
              <a:t>Решение не привязано к Москве: классификатор и памятка подключаются файлами, поэтому тренажёр переносится в любой регион.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>
                <a:solidFill>
                  <a:srgbClr val="310F53"/>
                </a:solidFill>
              </a:rPr>
              <a:t>К системе-112 Москвы подключены сотни дежурных служб.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310F53"/>
                </a:solidFill>
              </a:rPr>
              <a:t>Карточка происшествия уходит в свою ДДС: коммунальную, транспортную, управу района.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>
                <a:solidFill>
                  <a:srgbClr val="310F53"/>
                </a:solidFill>
              </a:rPr>
              <a:t>Диспетчер обязан подтвердить приём карточки за 30 секунд.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310F53"/>
                </a:solidFill>
              </a:rPr>
              <a:t>Не успел или не оповестил службу по телефону, и карточка уходит в отметку «Не оповещено», а помощь опаздывает.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>
                <a:solidFill>
                  <a:srgbClr val="310F53"/>
                </a:solidFill>
              </a:rPr>
              <a:t>Специализированного тренажёра для этой работы нет.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310F53"/>
                </a:solidFill>
              </a:rPr>
              <a:t>Учат на живых вызовах, где цена ошибки это время приезда бригады.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Диспетчер ДДС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Карточка приходит от оператора 112. Обучающийся принимает её в норматив, ведёт статусы, звонит дежурному службы и принимает доклады бригады по телефону.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Оператор 112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Звонок заявителя, роль которого играет модель. Обучающийся ведёт опрос, заполняет адрес и опросную карту, выбирает службы.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Преподаватель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Создаёт занятие из сценариев, видит группу вживую, получает отчёт, аналитику слабых мест и прогноз готовности к аттестации.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Пользователи и роли, состояние сервисов, журнал аудита, резервные копии и восстановление.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УМЕЕТ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t>КАК УСТРОЕНО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Рабочее место в браузере: эмулятор АРМ-112 и программный телефон. Поддерживается и настольный IP-телефон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Сервер приложения: занятия, карточки, оценка, отчёты. Python и FastAPI, база PostgreSQL, очередь фоновых задач.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Искусственный интеллект внутри контура: выбор реплики заявителя, генерация сценариев, распознавание речи, синтез голоса, проверка грамотности.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Телефония: Asterisk. Звонок заявителя обучающемуся, звонок диспетчера дежурному службы, входящие доклады бригады, запись разговоров.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Данные заказчика: классификатор происшествий, памятка по работе с АРМ-112, 96 учебных билетов. Ничего не выдумано.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sz="1200">
                <a:solidFill>
                  <a:srgbClr val="310F53"/>
                </a:solidFill>
              </a:rPr>
              <a:t>Балл не берётся из воздуха: он раскладывается на составляющие, и по каждой видно, что именно потеряно.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200">
                <a:solidFill>
                  <a:srgbClr val="310F53"/>
                </a:solidFill>
              </a:rPr>
              <a:t>Названия ошибок взяты из официальной памятки заказчика, со ссылкой на страницу.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200">
                <a:solidFill>
                  <a:srgbClr val="310F53"/>
                </a:solidFill>
              </a:rPr>
              <a:t>Преподаватель может изменить итог, указав причину: изменение остаётся в журнале.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200">
                <a:solidFill>
                  <a:srgbClr val="310F53"/>
                </a:solidFill>
              </a:rPr>
              <a:t>Сам подсчёт проверен независимым пересчётом на живых звонках: 12 звонков, 408 проверок, расхождений нет.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Решение: принять или отклонить, и обоснование отказа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Время: первичный статус против норматива 30 секунд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Цепочка статусов: начало реагирования, прибытие,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Звонки в службы: что передано дежурному и что упущено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Комментарии и грамотность: полнота записей и ошибки в тексте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ОЦЕНКА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Заявитель под контролем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Заявитель отвечает только теми репликами, которые утвердил преподаватель. Модель понимает вопрос и выбирает подходящую, поэтому выдумать ничего не может. Точность выбора реплики 95 процентов.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Скорость на процессоре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Ответ текстом около 0,9 секунды, голосом около 1,7 секунды на сервере без видеокарты. Распознавание речи, синтез и проверка грамотности тоже локальные.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Масштабируется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Адрес модели задаётся настройкой: её можно вынести на сервер с видеокартой или, если заказчик разрешит, на внешний сервис. Тогда диалог становится свободным.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t>ИИ БЕЗ ОБЛАКА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Классификатор заказчика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1283 типа происшествий, службы подбираются по признакам карточки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Памятка по работе с АРМ-112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Статусы реагирования и виды типичных нарушений, по ним названы ошибки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96 учебных билетов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Ситуации заказчика распознаны и превращены в учебные сценарии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Соответствие техническому заданию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174 пункта в таблице: 155 выполнено, по каждому указано, где и как проверить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Скорость под нагрузкой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100 пользователей: отклик 1,8 секунды. 20 занятий одновременно. 825 записей в базу в секунду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Проверка расчётов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12 живых звонков и 408 проверок подсчёта баллов без единого расхождения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ПРОВЕРЕНО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tand-07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8453" r="8453"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Рабочий стенд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Адрес и демонстрационные логины в форме сдачи. Логины показаны прямо на странице входа.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Репозиторий</a:t>
            </a:r>
            <a:endParaRPr lang="ru-RU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Открытый код, запуск одной командой, документация и маршрут проверки за 10 минут в docs/EXPERT_GUIDE.md.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Видео</a:t>
            </a:r>
            <a:endParaRPr lang="ru-RU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Трёхминутная запись работы: звонок, карточка, оценка, аналитика. Ссылка в дополнительных материалах.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ГДЕ ПОСМОТРЕТЬ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